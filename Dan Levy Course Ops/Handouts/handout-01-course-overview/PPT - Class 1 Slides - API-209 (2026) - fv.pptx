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57" r:id="rId2"/>
    <p:sldId id="259" r:id="rId3"/>
    <p:sldId id="260" r:id="rId4"/>
    <p:sldId id="35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362" r:id="rId18"/>
    <p:sldId id="361" r:id="rId19"/>
    <p:sldId id="352" r:id="rId20"/>
    <p:sldId id="353" r:id="rId21"/>
    <p:sldId id="277" r:id="rId22"/>
    <p:sldId id="278" r:id="rId23"/>
    <p:sldId id="279" r:id="rId24"/>
    <p:sldId id="280" r:id="rId25"/>
    <p:sldId id="405" r:id="rId26"/>
    <p:sldId id="281" r:id="rId27"/>
    <p:sldId id="282" r:id="rId28"/>
    <p:sldId id="283" r:id="rId29"/>
    <p:sldId id="354" r:id="rId30"/>
    <p:sldId id="285" r:id="rId31"/>
    <p:sldId id="287" r:id="rId32"/>
    <p:sldId id="288" r:id="rId33"/>
    <p:sldId id="289" r:id="rId34"/>
    <p:sldId id="355" r:id="rId35"/>
    <p:sldId id="291" r:id="rId36"/>
    <p:sldId id="292" r:id="rId37"/>
    <p:sldId id="293" r:id="rId38"/>
    <p:sldId id="294" r:id="rId39"/>
    <p:sldId id="356" r:id="rId40"/>
    <p:sldId id="357" r:id="rId41"/>
    <p:sldId id="297" r:id="rId42"/>
    <p:sldId id="298" r:id="rId43"/>
    <p:sldId id="299" r:id="rId44"/>
    <p:sldId id="358" r:id="rId45"/>
    <p:sldId id="301" r:id="rId46"/>
    <p:sldId id="359" r:id="rId47"/>
    <p:sldId id="360" r:id="rId48"/>
    <p:sldId id="363" r:id="rId49"/>
    <p:sldId id="406" r:id="rId50"/>
    <p:sldId id="286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BD5B"/>
    <a:srgbClr val="FFF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8025" autoAdjust="0"/>
    <p:restoredTop sz="94660" autoAdjust="0"/>
  </p:normalViewPr>
  <p:slideViewPr>
    <p:cSldViewPr snapToGrid="0">
      <p:cViewPr varScale="1">
        <p:scale>
          <a:sx n="101" d="100"/>
          <a:sy n="101" d="100"/>
        </p:scale>
        <p:origin x="224" y="10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542BE3-43FE-B879-127E-1FCE569C04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728DD-44F1-739B-5267-F2D4FF7CB2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994B2-9508-4983-87EB-1829A1A2CCAA}" type="datetimeFigureOut">
              <a:rPr lang="en-GB" smtClean="0"/>
              <a:t>Fall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F3B6A-802D-3C2F-E812-3D7DF9A769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410D7-CA83-0A25-9D4D-2E52407077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AE19B-9B78-4ED5-81E7-C414693DA7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2620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2BE5C-9524-4734-BE34-755C2D359643}" type="datetimeFigureOut">
              <a:rPr lang="en-GB" smtClean="0"/>
              <a:t>Fall 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92498B-6742-4162-9DD7-A2E553E1D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973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6544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4736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966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382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4" name="Shape 21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not modify the notes in this section to avoid tampering with the Poll Everywhere activity.</a:t>
            </a:r>
          </a:p>
          <a:p>
            <a:r>
              <a:t>More info at polleverywhere.com/support</a:t>
            </a:r>
          </a:p>
          <a:p>
            <a:endParaRPr/>
          </a:p>
          <a:p>
            <a:r>
              <a:t>C01 - Where are you from?</a:t>
            </a:r>
          </a:p>
          <a:p>
            <a:r>
              <a:t>https://www.polleverywhere.com/clickable_images/weOF0yESNcy9xW0WTaFiZ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422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4" name="Shape 22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.… it is pretty much grounded in Backward Design:  When I design a course, I think of the 3-5 ideas that I would like my students to be able to master at the end of the course. The analogy I give the students from the beginning of the semester is that I want some concepts/ideas to be so deep in their bones that they can remember them 5 years from that moment when I see them at an airport. So the airport becomes a shorthand way of referring to concepts/ideas that are important. </a:t>
            </a:r>
          </a:p>
          <a:p>
            <a:endParaRPr/>
          </a:p>
          <a:p>
            <a:r>
              <a:t>The airport idea I would like to illustrate today is “Thinking Probabilistically about the world” which is one goal that we have for our students in the empirical methods courses I teach at the Kennedy School. The goal is not to transform them into statisticians but rather to change the way they view the world when it comes to uncertainty. I would normally have you read something before class, so the flow of this session might not be optimal. But my hope is that it will provide us with a common experience with which to have a productive debrief/reflection about teaching.</a:t>
            </a:r>
          </a:p>
          <a:p>
            <a:endParaRPr/>
          </a:p>
          <a:p>
            <a:r>
              <a:t xml:space="preserve">Alright, let’s begin. [think carefully about a transition here] </a:t>
            </a:r>
          </a:p>
          <a:p>
            <a:endParaRPr/>
          </a:p>
          <a:p>
            <a:r>
              <a:t>Image Credits (counterclockwise from left): (CC BY 2.0) – Nicola Delfino – flickr; (CC BY 2.0) Javier Pedreira – flickr; (CC BY 2.0) Nicola Delfino – flickr.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788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3" name="Shape 24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.… it is pretty much grounded in Backward Design:  When I design a course, I think of the 3-5 ideas that I would like my students to be able to master at the end of the course. The analogy I give the students from the beginning of the semester is that I want some concepts/ideas to be so deep in their bones that they can remember them 5 years from that moment when I see them at an airport. So the airport becomes a shorthand way of referring to concepts/ideas that are important. </a:t>
            </a:r>
          </a:p>
          <a:p>
            <a:endParaRPr/>
          </a:p>
          <a:p>
            <a:r>
              <a:t>The airport idea I would like to illustrate today is “Thinking Probabilistically about the world” which is one goal that we have for our students in the empirical methods courses I teach at the Kennedy School. The goal is not to transform them into statisticians but rather to change the way they view the world when it comes to uncertainty. I would normally have you read something before class, so the flow of this session might not be optimal. But my hope is that it will provide us with a common experience with which to have a productive debrief/reflection about teaching.</a:t>
            </a:r>
          </a:p>
          <a:p>
            <a:endParaRPr/>
          </a:p>
          <a:p>
            <a:r>
              <a:t xml:space="preserve">Alright, let’s begin. [think carefully about a transition here] </a:t>
            </a:r>
          </a:p>
          <a:p>
            <a:endParaRPr/>
          </a:p>
          <a:p>
            <a:r>
              <a:t>Image Credits (counterclockwise from left): (CC BY 2.0) – Nicola Delfino – flickr; (CC BY 2.0) Javier Pedreira – flickr; (CC BY 2.0) Nicola Delfino – flickr.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7830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009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521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091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701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9169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9" name="Shape 2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Entre los principales resultados, se encuentra que los shocks de frío y de precipitación positiva favorecen la acumulación de capital humano, mientras que los de calor la reducen. 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9" name="Shape 2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Entre los principales resultados, se encuentra que los shocks de frío y de precipitación positiva favorecen la acumulación de capital humano, mientras que los de calor la reducen. </a:t>
            </a:r>
          </a:p>
        </p:txBody>
      </p:sp>
    </p:spTree>
    <p:extLst>
      <p:ext uri="{BB962C8B-B14F-4D97-AF65-F5344CB8AC3E}">
        <p14:creationId xmlns:p14="http://schemas.microsoft.com/office/powerpoint/2010/main" val="1474842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9" name="Shape 2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Entre los principales resultados, se encuentra que los shocks de frío y de precipitación positiva favorecen la acumulación de capital humano, mientras que los de calor la reducen. </a:t>
            </a:r>
          </a:p>
        </p:txBody>
      </p:sp>
    </p:spTree>
    <p:extLst>
      <p:ext uri="{BB962C8B-B14F-4D97-AF65-F5344CB8AC3E}">
        <p14:creationId xmlns:p14="http://schemas.microsoft.com/office/powerpoint/2010/main" val="11236758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9" name="Shape 2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Entre los principales resultados, se encuentra que los shocks de frío y de precipitación positiva favorecen la acumulación de capital humano, mientras que los de calor la reducen. </a:t>
            </a:r>
          </a:p>
        </p:txBody>
      </p:sp>
    </p:spTree>
    <p:extLst>
      <p:ext uri="{BB962C8B-B14F-4D97-AF65-F5344CB8AC3E}">
        <p14:creationId xmlns:p14="http://schemas.microsoft.com/office/powerpoint/2010/main" val="1066218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9" name="Shape 2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Entre los principales resultados, se encuentra que los shocks de frío y de precipitación positiva favorecen la acumulación de capital humano, mientras que los de calor la reducen. </a:t>
            </a:r>
          </a:p>
        </p:txBody>
      </p:sp>
    </p:spTree>
    <p:extLst>
      <p:ext uri="{BB962C8B-B14F-4D97-AF65-F5344CB8AC3E}">
        <p14:creationId xmlns:p14="http://schemas.microsoft.com/office/powerpoint/2010/main" val="25384998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0941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2011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4" name="Shape 29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not modify the notes in this section to avoid tampering with the Poll Everywhere activity.</a:t>
            </a:r>
          </a:p>
          <a:p>
            <a:r>
              <a:t>More info at polleverywhere.com/support</a:t>
            </a:r>
          </a:p>
          <a:p>
            <a:endParaRPr/>
          </a:p>
          <a:p>
            <a:r>
              <a:t>C01 - Relative to what you expected to happen, how surprised were you when you learned that Trump had won the Election?</a:t>
            </a:r>
          </a:p>
          <a:p>
            <a:r>
              <a:t>https://www.polleverywhere.com/multiple_choice_polls/BatGFJq9sOl863zOspGXr?display_state=instructions&amp;activity_state=opened&amp;state=opened&amp;flow=Engagement&amp;onscreen=persist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8" name="Shape 29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not modify the notes in this section to avoid tampering with the Poll Everywhere activity.</a:t>
            </a:r>
          </a:p>
          <a:p>
            <a:r>
              <a:t>More info at polleverywhere.com/support</a:t>
            </a:r>
          </a:p>
          <a:p>
            <a:endParaRPr/>
          </a:p>
          <a:p>
            <a:r>
              <a:t>C01 - Relative to what you expected to happen, how surprised were you when you learned that Trump had won the Election?</a:t>
            </a:r>
          </a:p>
          <a:p>
            <a:r>
              <a:t>https://www.polleverywhere.com/multiple_choice_polls/BatGFJq9sOl863zOspGXr?display_state=chart&amp;activity_state=opened&amp;state=opened&amp;flow=Engagement&amp;onscreen=persist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7908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7428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315" name="Shape 3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 xml:space="preserve">Wikimedia Commons: By Dennis Hill from The OC, So. Cal. - </a:t>
            </a:r>
            <a:r>
              <a:rPr dirty="0" err="1"/>
              <a:t>misc</a:t>
            </a:r>
            <a:r>
              <a:t xml:space="preserve"> 24, CC BY 2.0, https://commons.wikimedia.org/w/index.php?curid=54704175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5091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7335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2730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0776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4" name="Shape 3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not modify the notes in this section to avoid tampering with the Poll Everywhere activity.</a:t>
            </a:r>
          </a:p>
          <a:p>
            <a:r>
              <a:t>More info at polleverywhere.com/support</a:t>
            </a:r>
          </a:p>
          <a:p>
            <a:endParaRPr/>
          </a:p>
          <a:p>
            <a:r>
              <a:t>C01 - What is the probability that 2 or more people in a group of 20 share the same birthday?</a:t>
            </a:r>
          </a:p>
          <a:p>
            <a:r>
              <a:t>https://www.polleverywhere.com/multiple_choice_polls/hxq86CTskdTnLH0DVEUU9?display_state=instructions&amp;activity_state=opened&amp;state=opened&amp;flow=Engagement&amp;onscreen=persist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33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8" name="Shape 33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not modify the notes in this section to avoid tampering with the Poll Everywhere activity.</a:t>
            </a:r>
          </a:p>
          <a:p>
            <a:r>
              <a:t>More info at polleverywhere.com/support</a:t>
            </a:r>
          </a:p>
          <a:p>
            <a:endParaRPr/>
          </a:p>
          <a:p>
            <a:r>
              <a:t>C01 - What is the probability that 2 or more people in a group of 20 share the same birthday?</a:t>
            </a:r>
          </a:p>
          <a:p>
            <a:r>
              <a:t>https://www.polleverywhere.com/multiple_choice_polls/hxq86CTskdTnLH0DVEUU9?display_state=chart&amp;activity_state=closed&amp;state=closed&amp;flow=Engagement&amp;onscreen=persist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3769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6660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53543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4251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8563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250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2158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0906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5365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9764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0768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0624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1615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74501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48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19617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458320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2498B-6742-4162-9DD7-A2E553E1D5D7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818507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;p2">
            <a:extLst>
              <a:ext uri="{FF2B5EF4-FFF2-40B4-BE49-F238E27FC236}">
                <a16:creationId xmlns:a16="http://schemas.microsoft.com/office/drawing/2014/main" id="{04D37375-D436-27BD-3FC7-6A83A3DCB239}"/>
              </a:ext>
            </a:extLst>
          </p:cNvPr>
          <p:cNvSpPr/>
          <p:nvPr userDrawn="1"/>
        </p:nvSpPr>
        <p:spPr>
          <a:xfrm>
            <a:off x="0" y="3429000"/>
            <a:ext cx="12192400" cy="342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3F3F3"/>
              </a:solidFill>
            </a:endParaRPr>
          </a:p>
        </p:txBody>
      </p:sp>
      <p:sp>
        <p:nvSpPr>
          <p:cNvPr id="8" name="Google Shape;10;p2">
            <a:extLst>
              <a:ext uri="{FF2B5EF4-FFF2-40B4-BE49-F238E27FC236}">
                <a16:creationId xmlns:a16="http://schemas.microsoft.com/office/drawing/2014/main" id="{59337203-EBCE-3B2E-83B1-BFA18459061F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153912" y="1534160"/>
            <a:ext cx="8757928" cy="18491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67" b="1">
                <a:solidFill>
                  <a:schemeClr val="tx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C64EBB-1114-CC54-50DA-E4995F4320E8}"/>
              </a:ext>
            </a:extLst>
          </p:cNvPr>
          <p:cNvSpPr/>
          <p:nvPr userDrawn="1"/>
        </p:nvSpPr>
        <p:spPr>
          <a:xfrm>
            <a:off x="819464" y="1534160"/>
            <a:ext cx="1119265" cy="374724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2BE5AB6-5070-F52E-67E6-CD0479771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54238" y="3538469"/>
            <a:ext cx="8758237" cy="963613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DDF3743A-111A-BBB6-C8EA-3848CB9DA5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3912" y="4587558"/>
            <a:ext cx="8758237" cy="690562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 noProof="0" dirty="0"/>
              <a:t>Date / Author / Place</a:t>
            </a:r>
          </a:p>
        </p:txBody>
      </p:sp>
    </p:spTree>
    <p:extLst>
      <p:ext uri="{BB962C8B-B14F-4D97-AF65-F5344CB8AC3E}">
        <p14:creationId xmlns:p14="http://schemas.microsoft.com/office/powerpoint/2010/main" val="428638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3;p3">
            <a:extLst>
              <a:ext uri="{FF2B5EF4-FFF2-40B4-BE49-F238E27FC236}">
                <a16:creationId xmlns:a16="http://schemas.microsoft.com/office/drawing/2014/main" id="{C4D8F528-1BA3-51B3-E925-40BA59D76747}"/>
              </a:ext>
            </a:extLst>
          </p:cNvPr>
          <p:cNvSpPr/>
          <p:nvPr userDrawn="1"/>
        </p:nvSpPr>
        <p:spPr>
          <a:xfrm>
            <a:off x="0" y="0"/>
            <a:ext cx="3578087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" name="Google Shape;10;p2">
            <a:extLst>
              <a:ext uri="{FF2B5EF4-FFF2-40B4-BE49-F238E27FC236}">
                <a16:creationId xmlns:a16="http://schemas.microsoft.com/office/drawing/2014/main" id="{F91660B1-6926-047D-5377-6B73164D8DD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4035285" y="745435"/>
            <a:ext cx="7552194" cy="8236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3800" b="1">
                <a:solidFill>
                  <a:schemeClr val="tx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9" name="Text Placeholder 28">
            <a:extLst>
              <a:ext uri="{FF2B5EF4-FFF2-40B4-BE49-F238E27FC236}">
                <a16:creationId xmlns:a16="http://schemas.microsoft.com/office/drawing/2014/main" id="{B8CACE96-D648-412B-7014-DD99A93966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052" y="1898650"/>
            <a:ext cx="6697111" cy="110375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0" name="Google Shape;13;p3">
            <a:extLst>
              <a:ext uri="{FF2B5EF4-FFF2-40B4-BE49-F238E27FC236}">
                <a16:creationId xmlns:a16="http://schemas.microsoft.com/office/drawing/2014/main" id="{222F26DC-97FE-025D-0D97-AC45B50F16C3}"/>
              </a:ext>
            </a:extLst>
          </p:cNvPr>
          <p:cNvSpPr/>
          <p:nvPr userDrawn="1"/>
        </p:nvSpPr>
        <p:spPr>
          <a:xfrm>
            <a:off x="4035285" y="1898650"/>
            <a:ext cx="715619" cy="11037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accent6"/>
                </a:solidFill>
              </a:rPr>
              <a:t>1</a:t>
            </a:r>
            <a:endParaRPr sz="3600" b="1">
              <a:solidFill>
                <a:schemeClr val="accent6"/>
              </a:solidFill>
            </a:endParaRPr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4DBEBE17-73C2-9744-4DC4-EEB1228D2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90052" y="3259102"/>
            <a:ext cx="6697111" cy="110375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3" name="Google Shape;13;p3">
            <a:extLst>
              <a:ext uri="{FF2B5EF4-FFF2-40B4-BE49-F238E27FC236}">
                <a16:creationId xmlns:a16="http://schemas.microsoft.com/office/drawing/2014/main" id="{402E76B1-FAC3-5AB4-4FB4-87D6BB5602A6}"/>
              </a:ext>
            </a:extLst>
          </p:cNvPr>
          <p:cNvSpPr/>
          <p:nvPr userDrawn="1"/>
        </p:nvSpPr>
        <p:spPr>
          <a:xfrm>
            <a:off x="4035285" y="3259102"/>
            <a:ext cx="715619" cy="11037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accent6"/>
                </a:solidFill>
              </a:rPr>
              <a:t>2</a:t>
            </a:r>
            <a:endParaRPr sz="3600" b="1">
              <a:solidFill>
                <a:schemeClr val="accent6"/>
              </a:solidFill>
            </a:endParaRP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EF02616E-AB2A-5F16-81D5-D2C6F7A732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90052" y="4619555"/>
            <a:ext cx="6697111" cy="110375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6" name="Google Shape;13;p3">
            <a:extLst>
              <a:ext uri="{FF2B5EF4-FFF2-40B4-BE49-F238E27FC236}">
                <a16:creationId xmlns:a16="http://schemas.microsoft.com/office/drawing/2014/main" id="{23E92AE5-72DA-0966-C8AD-01F87E90CCE8}"/>
              </a:ext>
            </a:extLst>
          </p:cNvPr>
          <p:cNvSpPr/>
          <p:nvPr userDrawn="1"/>
        </p:nvSpPr>
        <p:spPr>
          <a:xfrm>
            <a:off x="4035285" y="4619555"/>
            <a:ext cx="715619" cy="11037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accent6"/>
                </a:solidFill>
              </a:rPr>
              <a:t>3</a:t>
            </a:r>
            <a:endParaRPr sz="3600" b="1">
              <a:solidFill>
                <a:schemeClr val="accent6"/>
              </a:solidFill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67E18B3-FB13-E209-84DC-F18D8DD71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Prof. 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184047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3;p3">
            <a:extLst>
              <a:ext uri="{FF2B5EF4-FFF2-40B4-BE49-F238E27FC236}">
                <a16:creationId xmlns:a16="http://schemas.microsoft.com/office/drawing/2014/main" id="{7FA3BD17-C171-AC94-77D0-4FAF767B6222}"/>
              </a:ext>
            </a:extLst>
          </p:cNvPr>
          <p:cNvSpPr/>
          <p:nvPr userDrawn="1"/>
        </p:nvSpPr>
        <p:spPr>
          <a:xfrm>
            <a:off x="0" y="0"/>
            <a:ext cx="3578087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" name="Google Shape;10;p2">
            <a:extLst>
              <a:ext uri="{FF2B5EF4-FFF2-40B4-BE49-F238E27FC236}">
                <a16:creationId xmlns:a16="http://schemas.microsoft.com/office/drawing/2014/main" id="{D3922D8A-781A-9450-9E79-5F16A975960A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4035285" y="745435"/>
            <a:ext cx="7552194" cy="8236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3800" b="1">
                <a:solidFill>
                  <a:schemeClr val="tx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8" name="Text Placeholder 28">
            <a:extLst>
              <a:ext uri="{FF2B5EF4-FFF2-40B4-BE49-F238E27FC236}">
                <a16:creationId xmlns:a16="http://schemas.microsoft.com/office/drawing/2014/main" id="{27BD4DF3-B623-8F97-06BF-DB4D0D092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052" y="1898649"/>
            <a:ext cx="6697111" cy="916873"/>
          </a:xfrm>
        </p:spPr>
        <p:txBody>
          <a:bodyPr anchor="ctr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9" name="Google Shape;13;p3">
            <a:extLst>
              <a:ext uri="{FF2B5EF4-FFF2-40B4-BE49-F238E27FC236}">
                <a16:creationId xmlns:a16="http://schemas.microsoft.com/office/drawing/2014/main" id="{BE4C0997-2F8D-0FA5-6665-0DD50641C3F6}"/>
              </a:ext>
            </a:extLst>
          </p:cNvPr>
          <p:cNvSpPr/>
          <p:nvPr userDrawn="1"/>
        </p:nvSpPr>
        <p:spPr>
          <a:xfrm>
            <a:off x="4035285" y="1898649"/>
            <a:ext cx="715619" cy="9168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accent6"/>
                </a:solidFill>
              </a:rPr>
              <a:t>1</a:t>
            </a:r>
            <a:endParaRPr sz="3600" b="1">
              <a:solidFill>
                <a:schemeClr val="accent6"/>
              </a:solidFill>
            </a:endParaRP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8A2EB81C-671C-B089-B5E9-75C9A19F03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90052" y="2970563"/>
            <a:ext cx="6697111" cy="916873"/>
          </a:xfrm>
        </p:spPr>
        <p:txBody>
          <a:bodyPr anchor="ctr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2" name="Google Shape;13;p3">
            <a:extLst>
              <a:ext uri="{FF2B5EF4-FFF2-40B4-BE49-F238E27FC236}">
                <a16:creationId xmlns:a16="http://schemas.microsoft.com/office/drawing/2014/main" id="{A3453DDA-B926-1439-D4D9-7B00F820A062}"/>
              </a:ext>
            </a:extLst>
          </p:cNvPr>
          <p:cNvSpPr/>
          <p:nvPr userDrawn="1"/>
        </p:nvSpPr>
        <p:spPr>
          <a:xfrm>
            <a:off x="4035285" y="2970563"/>
            <a:ext cx="715619" cy="9168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accent6"/>
                </a:solidFill>
              </a:rPr>
              <a:t>2</a:t>
            </a:r>
            <a:endParaRPr sz="3600" b="1">
              <a:solidFill>
                <a:schemeClr val="accent6"/>
              </a:solidFill>
            </a:endParaRPr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4202CEBF-8C5F-A7E2-860A-DB7649FA03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90052" y="4071940"/>
            <a:ext cx="6697111" cy="916873"/>
          </a:xfrm>
        </p:spPr>
        <p:txBody>
          <a:bodyPr anchor="ctr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5" name="Google Shape;13;p3">
            <a:extLst>
              <a:ext uri="{FF2B5EF4-FFF2-40B4-BE49-F238E27FC236}">
                <a16:creationId xmlns:a16="http://schemas.microsoft.com/office/drawing/2014/main" id="{0DC402BD-DA79-3007-E598-8313F605A37C}"/>
              </a:ext>
            </a:extLst>
          </p:cNvPr>
          <p:cNvSpPr/>
          <p:nvPr userDrawn="1"/>
        </p:nvSpPr>
        <p:spPr>
          <a:xfrm>
            <a:off x="4035285" y="4071940"/>
            <a:ext cx="715619" cy="9168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accent6"/>
                </a:solidFill>
              </a:rPr>
              <a:t>3</a:t>
            </a:r>
            <a:endParaRPr sz="3600" b="1">
              <a:solidFill>
                <a:schemeClr val="accent6"/>
              </a:solidFill>
            </a:endParaRP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33FD0090-5E18-645B-2771-598F51242F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90052" y="5132068"/>
            <a:ext cx="6697111" cy="916873"/>
          </a:xfrm>
        </p:spPr>
        <p:txBody>
          <a:bodyPr anchor="ctr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8" name="Google Shape;13;p3">
            <a:extLst>
              <a:ext uri="{FF2B5EF4-FFF2-40B4-BE49-F238E27FC236}">
                <a16:creationId xmlns:a16="http://schemas.microsoft.com/office/drawing/2014/main" id="{911C0471-7D28-E8A1-A067-8FF1F33744ED}"/>
              </a:ext>
            </a:extLst>
          </p:cNvPr>
          <p:cNvSpPr/>
          <p:nvPr userDrawn="1"/>
        </p:nvSpPr>
        <p:spPr>
          <a:xfrm>
            <a:off x="4035285" y="5132068"/>
            <a:ext cx="715619" cy="9168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accent6"/>
                </a:solidFill>
              </a:rPr>
              <a:t>4</a:t>
            </a:r>
            <a:endParaRPr sz="3600" b="1">
              <a:solidFill>
                <a:schemeClr val="accent6"/>
              </a:solidFill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BA30459-DFA9-B932-B0F3-72476E9C7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Prof. 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198123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3;p3">
            <a:extLst>
              <a:ext uri="{FF2B5EF4-FFF2-40B4-BE49-F238E27FC236}">
                <a16:creationId xmlns:a16="http://schemas.microsoft.com/office/drawing/2014/main" id="{821509B5-2BEA-B423-8916-8FF136C91D5E}"/>
              </a:ext>
            </a:extLst>
          </p:cNvPr>
          <p:cNvSpPr/>
          <p:nvPr userDrawn="1"/>
        </p:nvSpPr>
        <p:spPr>
          <a:xfrm>
            <a:off x="0" y="0"/>
            <a:ext cx="3578087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" name="Google Shape;10;p2">
            <a:extLst>
              <a:ext uri="{FF2B5EF4-FFF2-40B4-BE49-F238E27FC236}">
                <a16:creationId xmlns:a16="http://schemas.microsoft.com/office/drawing/2014/main" id="{B2DA9624-C2AB-1C70-2FD5-2CA1189664D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4035285" y="745435"/>
            <a:ext cx="7552194" cy="8236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3800" b="1">
                <a:solidFill>
                  <a:schemeClr val="tx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D9D77CF-B32B-C208-E9AF-0BF1E97A65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052" y="1898650"/>
            <a:ext cx="6697111" cy="655638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30" name="Google Shape;13;p3">
            <a:extLst>
              <a:ext uri="{FF2B5EF4-FFF2-40B4-BE49-F238E27FC236}">
                <a16:creationId xmlns:a16="http://schemas.microsoft.com/office/drawing/2014/main" id="{AD7C9988-14F3-E8F2-A618-9C4942EC1930}"/>
              </a:ext>
            </a:extLst>
          </p:cNvPr>
          <p:cNvSpPr/>
          <p:nvPr userDrawn="1"/>
        </p:nvSpPr>
        <p:spPr>
          <a:xfrm>
            <a:off x="4035285" y="1898650"/>
            <a:ext cx="715619" cy="65563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accent6"/>
                </a:solidFill>
              </a:rPr>
              <a:t>1</a:t>
            </a:r>
            <a:endParaRPr sz="3600" b="1">
              <a:solidFill>
                <a:schemeClr val="accent6"/>
              </a:solidFill>
            </a:endParaRP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2D548400-FB5D-7389-1C82-C3FD325C27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90052" y="2667694"/>
            <a:ext cx="6697111" cy="655638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33" name="Google Shape;13;p3">
            <a:extLst>
              <a:ext uri="{FF2B5EF4-FFF2-40B4-BE49-F238E27FC236}">
                <a16:creationId xmlns:a16="http://schemas.microsoft.com/office/drawing/2014/main" id="{99B5F573-0FA4-B56E-3A59-080DF5A2623E}"/>
              </a:ext>
            </a:extLst>
          </p:cNvPr>
          <p:cNvSpPr/>
          <p:nvPr userDrawn="1"/>
        </p:nvSpPr>
        <p:spPr>
          <a:xfrm>
            <a:off x="4035285" y="2667694"/>
            <a:ext cx="715619" cy="65563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accent6"/>
                </a:solidFill>
              </a:rPr>
              <a:t>2</a:t>
            </a:r>
            <a:endParaRPr sz="3600" b="1">
              <a:solidFill>
                <a:schemeClr val="accent6"/>
              </a:solidFill>
            </a:endParaRP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47B0E1C4-9633-F1F9-8709-BCEC89C533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90052" y="3488128"/>
            <a:ext cx="6697111" cy="655638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36" name="Google Shape;13;p3">
            <a:extLst>
              <a:ext uri="{FF2B5EF4-FFF2-40B4-BE49-F238E27FC236}">
                <a16:creationId xmlns:a16="http://schemas.microsoft.com/office/drawing/2014/main" id="{D770D4CC-F3C5-9C2F-6163-C1329ECE5E50}"/>
              </a:ext>
            </a:extLst>
          </p:cNvPr>
          <p:cNvSpPr/>
          <p:nvPr userDrawn="1"/>
        </p:nvSpPr>
        <p:spPr>
          <a:xfrm>
            <a:off x="4035285" y="3488128"/>
            <a:ext cx="715619" cy="65563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accent6"/>
                </a:solidFill>
              </a:rPr>
              <a:t>3</a:t>
            </a:r>
            <a:endParaRPr sz="3600" b="1">
              <a:solidFill>
                <a:schemeClr val="accent6"/>
              </a:solidFill>
            </a:endParaRP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7CD797C3-6751-C274-30A1-425FF2363F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90052" y="4303713"/>
            <a:ext cx="6697111" cy="655638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39" name="Google Shape;13;p3">
            <a:extLst>
              <a:ext uri="{FF2B5EF4-FFF2-40B4-BE49-F238E27FC236}">
                <a16:creationId xmlns:a16="http://schemas.microsoft.com/office/drawing/2014/main" id="{AE082148-6B3C-F0DB-FE0C-D59E7325B79D}"/>
              </a:ext>
            </a:extLst>
          </p:cNvPr>
          <p:cNvSpPr/>
          <p:nvPr userDrawn="1"/>
        </p:nvSpPr>
        <p:spPr>
          <a:xfrm>
            <a:off x="4035285" y="4303713"/>
            <a:ext cx="715619" cy="65563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accent6"/>
                </a:solidFill>
              </a:rPr>
              <a:t>4</a:t>
            </a:r>
            <a:endParaRPr sz="3600" b="1">
              <a:solidFill>
                <a:schemeClr val="accent6"/>
              </a:solidFill>
            </a:endParaRP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4673949F-C694-2E46-6399-18416052A8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0052" y="5071571"/>
            <a:ext cx="6697111" cy="655638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42" name="Google Shape;13;p3">
            <a:extLst>
              <a:ext uri="{FF2B5EF4-FFF2-40B4-BE49-F238E27FC236}">
                <a16:creationId xmlns:a16="http://schemas.microsoft.com/office/drawing/2014/main" id="{9157B60C-9878-8E18-F459-0EB10EDB63EE}"/>
              </a:ext>
            </a:extLst>
          </p:cNvPr>
          <p:cNvSpPr/>
          <p:nvPr userDrawn="1"/>
        </p:nvSpPr>
        <p:spPr>
          <a:xfrm>
            <a:off x="4035285" y="5071571"/>
            <a:ext cx="715619" cy="65563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accent6"/>
                </a:solidFill>
              </a:rPr>
              <a:t>5</a:t>
            </a:r>
            <a:endParaRPr sz="3600" b="1">
              <a:solidFill>
                <a:schemeClr val="accent6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B4A789F-FA4D-7540-B683-9CFD5D3F5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Prof. 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105844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3;p3">
            <a:extLst>
              <a:ext uri="{FF2B5EF4-FFF2-40B4-BE49-F238E27FC236}">
                <a16:creationId xmlns:a16="http://schemas.microsoft.com/office/drawing/2014/main" id="{1BD20AB8-9E2D-D244-51FE-69B9E401EF0B}"/>
              </a:ext>
            </a:extLst>
          </p:cNvPr>
          <p:cNvSpPr/>
          <p:nvPr userDrawn="1"/>
        </p:nvSpPr>
        <p:spPr>
          <a:xfrm>
            <a:off x="0" y="0"/>
            <a:ext cx="3578087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" name="Google Shape;10;p2">
            <a:extLst>
              <a:ext uri="{FF2B5EF4-FFF2-40B4-BE49-F238E27FC236}">
                <a16:creationId xmlns:a16="http://schemas.microsoft.com/office/drawing/2014/main" id="{610F28BA-BACD-12E7-78B0-D418B69686A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4035285" y="745435"/>
            <a:ext cx="7552194" cy="8236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3800" b="1">
                <a:solidFill>
                  <a:schemeClr val="tx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8" name="Text Placeholder 28">
            <a:extLst>
              <a:ext uri="{FF2B5EF4-FFF2-40B4-BE49-F238E27FC236}">
                <a16:creationId xmlns:a16="http://schemas.microsoft.com/office/drawing/2014/main" id="{B375F2D0-BEE3-AA98-F71C-171EC9E63A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052" y="1898650"/>
            <a:ext cx="6697111" cy="5248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9" name="Google Shape;13;p3">
            <a:extLst>
              <a:ext uri="{FF2B5EF4-FFF2-40B4-BE49-F238E27FC236}">
                <a16:creationId xmlns:a16="http://schemas.microsoft.com/office/drawing/2014/main" id="{2B850172-E296-D840-A8FA-360A6CEC62C7}"/>
              </a:ext>
            </a:extLst>
          </p:cNvPr>
          <p:cNvSpPr/>
          <p:nvPr userDrawn="1"/>
        </p:nvSpPr>
        <p:spPr>
          <a:xfrm>
            <a:off x="4035285" y="1898650"/>
            <a:ext cx="715619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accent6"/>
                </a:solidFill>
              </a:rPr>
              <a:t>1</a:t>
            </a:r>
            <a:endParaRPr sz="3200" b="1">
              <a:solidFill>
                <a:schemeClr val="accent6"/>
              </a:solidFill>
            </a:endParaRP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8F0F435-D59D-AC60-EFEF-0AA43B4795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90052" y="2561367"/>
            <a:ext cx="6697111" cy="5248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2" name="Google Shape;13;p3">
            <a:extLst>
              <a:ext uri="{FF2B5EF4-FFF2-40B4-BE49-F238E27FC236}">
                <a16:creationId xmlns:a16="http://schemas.microsoft.com/office/drawing/2014/main" id="{74F19BA0-2847-DAC4-877A-22E500275EA9}"/>
              </a:ext>
            </a:extLst>
          </p:cNvPr>
          <p:cNvSpPr/>
          <p:nvPr userDrawn="1"/>
        </p:nvSpPr>
        <p:spPr>
          <a:xfrm>
            <a:off x="4035285" y="2561367"/>
            <a:ext cx="715619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accent6"/>
                </a:solidFill>
              </a:rPr>
              <a:t>2</a:t>
            </a:r>
            <a:endParaRPr sz="3200" b="1">
              <a:solidFill>
                <a:schemeClr val="accent6"/>
              </a:solidFill>
            </a:endParaRPr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AD26737C-91D1-8A93-830B-2D43D140D3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90052" y="3257980"/>
            <a:ext cx="6697111" cy="5248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5" name="Google Shape;13;p3">
            <a:extLst>
              <a:ext uri="{FF2B5EF4-FFF2-40B4-BE49-F238E27FC236}">
                <a16:creationId xmlns:a16="http://schemas.microsoft.com/office/drawing/2014/main" id="{AD6201B7-A66B-4D7B-B1B5-83EABF535C97}"/>
              </a:ext>
            </a:extLst>
          </p:cNvPr>
          <p:cNvSpPr/>
          <p:nvPr userDrawn="1"/>
        </p:nvSpPr>
        <p:spPr>
          <a:xfrm>
            <a:off x="4035285" y="3257980"/>
            <a:ext cx="715619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accent6"/>
                </a:solidFill>
              </a:rPr>
              <a:t>3</a:t>
            </a:r>
            <a:endParaRPr sz="3200" b="1">
              <a:solidFill>
                <a:schemeClr val="accent6"/>
              </a:solidFill>
            </a:endParaRP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6FC143ED-7A96-CD35-FB42-A4AFE2F475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90052" y="3954593"/>
            <a:ext cx="6697111" cy="5248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8" name="Google Shape;13;p3">
            <a:extLst>
              <a:ext uri="{FF2B5EF4-FFF2-40B4-BE49-F238E27FC236}">
                <a16:creationId xmlns:a16="http://schemas.microsoft.com/office/drawing/2014/main" id="{ABACD035-D157-CBB1-3861-3729DB64F0E0}"/>
              </a:ext>
            </a:extLst>
          </p:cNvPr>
          <p:cNvSpPr/>
          <p:nvPr userDrawn="1"/>
        </p:nvSpPr>
        <p:spPr>
          <a:xfrm>
            <a:off x="4035285" y="3954593"/>
            <a:ext cx="715619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accent6"/>
                </a:solidFill>
              </a:rPr>
              <a:t>4</a:t>
            </a:r>
            <a:endParaRPr sz="3200" b="1">
              <a:solidFill>
                <a:schemeClr val="accent6"/>
              </a:solidFill>
            </a:endParaRPr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4AA4DDE1-3DE8-91DF-2D94-C07BE84BF5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0052" y="4660408"/>
            <a:ext cx="6697111" cy="5248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21" name="Google Shape;13;p3">
            <a:extLst>
              <a:ext uri="{FF2B5EF4-FFF2-40B4-BE49-F238E27FC236}">
                <a16:creationId xmlns:a16="http://schemas.microsoft.com/office/drawing/2014/main" id="{F9998CBB-3D9A-90F5-FA7E-5848F92AA6FF}"/>
              </a:ext>
            </a:extLst>
          </p:cNvPr>
          <p:cNvSpPr/>
          <p:nvPr userDrawn="1"/>
        </p:nvSpPr>
        <p:spPr>
          <a:xfrm>
            <a:off x="4035285" y="4660408"/>
            <a:ext cx="715619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accent6"/>
                </a:solidFill>
              </a:rPr>
              <a:t>5</a:t>
            </a:r>
            <a:endParaRPr sz="3200" b="1">
              <a:solidFill>
                <a:schemeClr val="accent6"/>
              </a:solidFill>
            </a:endParaRPr>
          </a:p>
        </p:txBody>
      </p:sp>
      <p:sp>
        <p:nvSpPr>
          <p:cNvPr id="24" name="Text Placeholder 28">
            <a:extLst>
              <a:ext uri="{FF2B5EF4-FFF2-40B4-BE49-F238E27FC236}">
                <a16:creationId xmlns:a16="http://schemas.microsoft.com/office/drawing/2014/main" id="{65E0A7E5-9CB8-33AA-1D07-4786A9F39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90052" y="5357021"/>
            <a:ext cx="6697111" cy="5248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25" name="Google Shape;13;p3">
            <a:extLst>
              <a:ext uri="{FF2B5EF4-FFF2-40B4-BE49-F238E27FC236}">
                <a16:creationId xmlns:a16="http://schemas.microsoft.com/office/drawing/2014/main" id="{DC208BF3-2C94-99C5-D172-16513236FD0C}"/>
              </a:ext>
            </a:extLst>
          </p:cNvPr>
          <p:cNvSpPr/>
          <p:nvPr userDrawn="1"/>
        </p:nvSpPr>
        <p:spPr>
          <a:xfrm>
            <a:off x="4035285" y="5357021"/>
            <a:ext cx="715619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accent6"/>
                </a:solidFill>
              </a:rPr>
              <a:t>6</a:t>
            </a:r>
            <a:endParaRPr sz="3200" b="1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654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;p7">
            <a:extLst>
              <a:ext uri="{FF2B5EF4-FFF2-40B4-BE49-F238E27FC236}">
                <a16:creationId xmlns:a16="http://schemas.microsoft.com/office/drawing/2014/main" id="{3F8781BB-490D-8FFC-6E6F-D290B39CEEE4}"/>
              </a:ext>
            </a:extLst>
          </p:cNvPr>
          <p:cNvSpPr/>
          <p:nvPr userDrawn="1"/>
        </p:nvSpPr>
        <p:spPr>
          <a:xfrm>
            <a:off x="6096000" y="0"/>
            <a:ext cx="609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FA4B81-EBC9-23BE-690B-F4F1A0447F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Google Shape;10;p2">
            <a:extLst>
              <a:ext uri="{FF2B5EF4-FFF2-40B4-BE49-F238E27FC236}">
                <a16:creationId xmlns:a16="http://schemas.microsoft.com/office/drawing/2014/main" id="{1B419773-F3F3-AFC9-656C-507CC0C0B4FC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927574" y="993913"/>
            <a:ext cx="4412974" cy="32302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400" b="1">
                <a:solidFill>
                  <a:schemeClr val="accent6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8" name="Text Placeholder 28">
            <a:extLst>
              <a:ext uri="{FF2B5EF4-FFF2-40B4-BE49-F238E27FC236}">
                <a16:creationId xmlns:a16="http://schemas.microsoft.com/office/drawing/2014/main" id="{9E8C8E88-F8E3-B438-FC92-99C8501DE2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27575" y="4552397"/>
            <a:ext cx="4412974" cy="1311689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A06C71F-6256-40CA-2D0C-C17815195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27574" y="636394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3743686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ansition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;p7">
            <a:extLst>
              <a:ext uri="{FF2B5EF4-FFF2-40B4-BE49-F238E27FC236}">
                <a16:creationId xmlns:a16="http://schemas.microsoft.com/office/drawing/2014/main" id="{3F8781BB-490D-8FFC-6E6F-D290B39CEEE4}"/>
              </a:ext>
            </a:extLst>
          </p:cNvPr>
          <p:cNvSpPr/>
          <p:nvPr userDrawn="1"/>
        </p:nvSpPr>
        <p:spPr>
          <a:xfrm>
            <a:off x="0" y="0"/>
            <a:ext cx="12194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" name="Google Shape;10;p2">
            <a:extLst>
              <a:ext uri="{FF2B5EF4-FFF2-40B4-BE49-F238E27FC236}">
                <a16:creationId xmlns:a16="http://schemas.microsoft.com/office/drawing/2014/main" id="{1B419773-F3F3-AFC9-656C-507CC0C0B4FC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795130" y="993913"/>
            <a:ext cx="10545418" cy="32302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400" b="1">
                <a:solidFill>
                  <a:schemeClr val="accent6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8" name="Text Placeholder 28">
            <a:extLst>
              <a:ext uri="{FF2B5EF4-FFF2-40B4-BE49-F238E27FC236}">
                <a16:creationId xmlns:a16="http://schemas.microsoft.com/office/drawing/2014/main" id="{9E8C8E88-F8E3-B438-FC92-99C8501DE2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5130" y="4552397"/>
            <a:ext cx="10545419" cy="1311689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CBA90CD-3988-8579-E12F-25B4EB966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4274077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;p6">
            <a:extLst>
              <a:ext uri="{FF2B5EF4-FFF2-40B4-BE49-F238E27FC236}">
                <a16:creationId xmlns:a16="http://schemas.microsoft.com/office/drawing/2014/main" id="{1739787C-B2D6-6F7B-6571-8D866A16EB50}"/>
              </a:ext>
            </a:extLst>
          </p:cNvPr>
          <p:cNvSpPr/>
          <p:nvPr userDrawn="1"/>
        </p:nvSpPr>
        <p:spPr>
          <a:xfrm>
            <a:off x="0" y="6371480"/>
            <a:ext cx="12192000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" name="Google Shape;30;p6">
            <a:extLst>
              <a:ext uri="{FF2B5EF4-FFF2-40B4-BE49-F238E27FC236}">
                <a16:creationId xmlns:a16="http://schemas.microsoft.com/office/drawing/2014/main" id="{7B5382EC-AD09-D263-4A07-C5AB8DEF1FC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4520" y="3065000"/>
            <a:ext cx="10982960" cy="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57E53CB-489F-F860-6EA6-A81A5BCA8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3924509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;p6">
            <a:extLst>
              <a:ext uri="{FF2B5EF4-FFF2-40B4-BE49-F238E27FC236}">
                <a16:creationId xmlns:a16="http://schemas.microsoft.com/office/drawing/2014/main" id="{7B5382EC-AD09-D263-4A07-C5AB8DEF1FC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4520" y="741673"/>
            <a:ext cx="10982960" cy="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8" name="Google Shape;29;p6">
            <a:extLst>
              <a:ext uri="{FF2B5EF4-FFF2-40B4-BE49-F238E27FC236}">
                <a16:creationId xmlns:a16="http://schemas.microsoft.com/office/drawing/2014/main" id="{F6DF478A-5B5F-D814-CA05-8AE487D5115A}"/>
              </a:ext>
            </a:extLst>
          </p:cNvPr>
          <p:cNvSpPr/>
          <p:nvPr userDrawn="1"/>
        </p:nvSpPr>
        <p:spPr>
          <a:xfrm>
            <a:off x="335280" y="741673"/>
            <a:ext cx="223520" cy="7280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06978-A166-A87C-65A4-E9363F109E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280" y="1798638"/>
            <a:ext cx="11251883" cy="416718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800"/>
            </a:lvl1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2" name="Google Shape;29;p6">
            <a:extLst>
              <a:ext uri="{FF2B5EF4-FFF2-40B4-BE49-F238E27FC236}">
                <a16:creationId xmlns:a16="http://schemas.microsoft.com/office/drawing/2014/main" id="{9E054E45-5D49-5E7F-0066-E40C0742A9C0}"/>
              </a:ext>
            </a:extLst>
          </p:cNvPr>
          <p:cNvSpPr/>
          <p:nvPr userDrawn="1"/>
        </p:nvSpPr>
        <p:spPr>
          <a:xfrm>
            <a:off x="0" y="6371480"/>
            <a:ext cx="12192000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CCCB8-2ABE-BB3E-6AAD-49530C80F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1930204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;p6">
            <a:extLst>
              <a:ext uri="{FF2B5EF4-FFF2-40B4-BE49-F238E27FC236}">
                <a16:creationId xmlns:a16="http://schemas.microsoft.com/office/drawing/2014/main" id="{FD3A7AE3-5B72-FEF6-3614-B090A7E87F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4520" y="741673"/>
            <a:ext cx="10982960" cy="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8" name="Google Shape;29;p6">
            <a:extLst>
              <a:ext uri="{FF2B5EF4-FFF2-40B4-BE49-F238E27FC236}">
                <a16:creationId xmlns:a16="http://schemas.microsoft.com/office/drawing/2014/main" id="{DF48B3F6-DAE5-6EDE-5D63-A64EEA08599F}"/>
              </a:ext>
            </a:extLst>
          </p:cNvPr>
          <p:cNvSpPr/>
          <p:nvPr userDrawn="1"/>
        </p:nvSpPr>
        <p:spPr>
          <a:xfrm>
            <a:off x="335280" y="741673"/>
            <a:ext cx="223520" cy="7280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0F29B47-9701-450F-3690-12B8344E8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280" y="1798638"/>
            <a:ext cx="11251883" cy="4167187"/>
          </a:xfr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Font typeface="Courier New" panose="02070309020205020404" pitchFamily="49" charset="0"/>
              <a:buNone/>
              <a:defRPr sz="2400"/>
            </a:lvl2pPr>
          </a:lstStyle>
          <a:p>
            <a:pPr lvl="0"/>
            <a:r>
              <a:rPr lang="en-GB" noProof="0" dirty="0"/>
              <a:t>Text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Text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lang="en-GB" noProof="0" dirty="0"/>
          </a:p>
        </p:txBody>
      </p:sp>
      <p:sp>
        <p:nvSpPr>
          <p:cNvPr id="2" name="Google Shape;29;p6">
            <a:extLst>
              <a:ext uri="{FF2B5EF4-FFF2-40B4-BE49-F238E27FC236}">
                <a16:creationId xmlns:a16="http://schemas.microsoft.com/office/drawing/2014/main" id="{F24F7E83-E6EF-1E07-452F-93EC558598F8}"/>
              </a:ext>
            </a:extLst>
          </p:cNvPr>
          <p:cNvSpPr/>
          <p:nvPr userDrawn="1"/>
        </p:nvSpPr>
        <p:spPr>
          <a:xfrm>
            <a:off x="0" y="6371480"/>
            <a:ext cx="12192000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8191BDE-DFE0-6A17-06E3-78E0583AE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1938382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n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;p6">
            <a:extLst>
              <a:ext uri="{FF2B5EF4-FFF2-40B4-BE49-F238E27FC236}">
                <a16:creationId xmlns:a16="http://schemas.microsoft.com/office/drawing/2014/main" id="{272D2776-3BD5-CFB1-C905-3150B3F1726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4520" y="741673"/>
            <a:ext cx="10982960" cy="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8" name="Google Shape;29;p6">
            <a:extLst>
              <a:ext uri="{FF2B5EF4-FFF2-40B4-BE49-F238E27FC236}">
                <a16:creationId xmlns:a16="http://schemas.microsoft.com/office/drawing/2014/main" id="{5C85342C-9811-DD28-68E1-A60AEB9490F7}"/>
              </a:ext>
            </a:extLst>
          </p:cNvPr>
          <p:cNvSpPr/>
          <p:nvPr userDrawn="1"/>
        </p:nvSpPr>
        <p:spPr>
          <a:xfrm>
            <a:off x="335280" y="741673"/>
            <a:ext cx="223520" cy="7280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" name="Google Shape;29;p6">
            <a:extLst>
              <a:ext uri="{FF2B5EF4-FFF2-40B4-BE49-F238E27FC236}">
                <a16:creationId xmlns:a16="http://schemas.microsoft.com/office/drawing/2014/main" id="{F1E0B28C-C701-8DC4-77B5-2CD4792D6D62}"/>
              </a:ext>
            </a:extLst>
          </p:cNvPr>
          <p:cNvSpPr/>
          <p:nvPr userDrawn="1"/>
        </p:nvSpPr>
        <p:spPr>
          <a:xfrm>
            <a:off x="0" y="6371480"/>
            <a:ext cx="12192000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B7D1985-0E47-3FB6-1D5D-0A6B8FCE5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226716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;p6">
            <a:extLst>
              <a:ext uri="{FF2B5EF4-FFF2-40B4-BE49-F238E27FC236}">
                <a16:creationId xmlns:a16="http://schemas.microsoft.com/office/drawing/2014/main" id="{7F030D95-1CC5-4B54-E115-F81749B86AE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4520" y="741673"/>
            <a:ext cx="10982960" cy="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8" name="Google Shape;29;p6">
            <a:extLst>
              <a:ext uri="{FF2B5EF4-FFF2-40B4-BE49-F238E27FC236}">
                <a16:creationId xmlns:a16="http://schemas.microsoft.com/office/drawing/2014/main" id="{637E090E-691F-CDEB-BAE3-6D829589E51B}"/>
              </a:ext>
            </a:extLst>
          </p:cNvPr>
          <p:cNvSpPr/>
          <p:nvPr userDrawn="1"/>
        </p:nvSpPr>
        <p:spPr>
          <a:xfrm>
            <a:off x="335280" y="741673"/>
            <a:ext cx="223520" cy="7280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34398A67-D387-9B96-E3A4-C2AF04A8EABB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256183" y="2117035"/>
            <a:ext cx="7901608" cy="3359425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2" name="Google Shape;29;p6">
            <a:extLst>
              <a:ext uri="{FF2B5EF4-FFF2-40B4-BE49-F238E27FC236}">
                <a16:creationId xmlns:a16="http://schemas.microsoft.com/office/drawing/2014/main" id="{8AEFA670-8BD9-603B-31D1-B1E78824173C}"/>
              </a:ext>
            </a:extLst>
          </p:cNvPr>
          <p:cNvSpPr/>
          <p:nvPr userDrawn="1"/>
        </p:nvSpPr>
        <p:spPr>
          <a:xfrm>
            <a:off x="0" y="6371480"/>
            <a:ext cx="12192000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2E8522A-F120-F5A6-092E-4833DE26B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1865082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Title and body (2)">
    <p:bg>
      <p:bgPr>
        <a:solidFill>
          <a:schemeClr val="dk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 hasCustomPrompt="1"/>
          </p:nvPr>
        </p:nvSpPr>
        <p:spPr>
          <a:xfrm>
            <a:off x="890000" y="719200"/>
            <a:ext cx="10412000" cy="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>
                <a:solidFill>
                  <a:schemeClr val="lt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DF60E81-D4B2-C061-F578-795F1A086A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0000" y="1798638"/>
            <a:ext cx="10697163" cy="4167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037CCEE-DDC4-7B4E-87C0-D04B9BB505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1010375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;p6">
            <a:extLst>
              <a:ext uri="{FF2B5EF4-FFF2-40B4-BE49-F238E27FC236}">
                <a16:creationId xmlns:a16="http://schemas.microsoft.com/office/drawing/2014/main" id="{80EB4C54-956F-8BF2-7730-4B471D9B81C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4520" y="741673"/>
            <a:ext cx="10982960" cy="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8" name="Google Shape;29;p6">
            <a:extLst>
              <a:ext uri="{FF2B5EF4-FFF2-40B4-BE49-F238E27FC236}">
                <a16:creationId xmlns:a16="http://schemas.microsoft.com/office/drawing/2014/main" id="{FE95F05B-4ECA-1FA9-625F-5FF4CDAE92DE}"/>
              </a:ext>
            </a:extLst>
          </p:cNvPr>
          <p:cNvSpPr/>
          <p:nvPr userDrawn="1"/>
        </p:nvSpPr>
        <p:spPr>
          <a:xfrm>
            <a:off x="335280" y="741673"/>
            <a:ext cx="223520" cy="7280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4138352-A339-E1E3-CC0B-1E3B0FF2BC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281" y="1798638"/>
            <a:ext cx="5350786" cy="4167187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A081F-E041-E9F0-0141-48BB858AC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6694" y="1798638"/>
            <a:ext cx="5350786" cy="4167187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D329C72B-6B95-C54C-E923-CA8E803FB8C4}"/>
              </a:ext>
            </a:extLst>
          </p:cNvPr>
          <p:cNvSpPr/>
          <p:nvPr userDrawn="1"/>
        </p:nvSpPr>
        <p:spPr>
          <a:xfrm>
            <a:off x="0" y="6371480"/>
            <a:ext cx="12192000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9896E20-B4B4-E89C-A542-EA62B58A1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965402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paragraph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;p6">
            <a:extLst>
              <a:ext uri="{FF2B5EF4-FFF2-40B4-BE49-F238E27FC236}">
                <a16:creationId xmlns:a16="http://schemas.microsoft.com/office/drawing/2014/main" id="{C6917717-6DBF-FE20-7869-EDE0E9B8678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4520" y="741673"/>
            <a:ext cx="10982960" cy="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8" name="Google Shape;29;p6">
            <a:extLst>
              <a:ext uri="{FF2B5EF4-FFF2-40B4-BE49-F238E27FC236}">
                <a16:creationId xmlns:a16="http://schemas.microsoft.com/office/drawing/2014/main" id="{BBC115D4-9816-13D8-6F76-ABFE9777C9C8}"/>
              </a:ext>
            </a:extLst>
          </p:cNvPr>
          <p:cNvSpPr/>
          <p:nvPr userDrawn="1"/>
        </p:nvSpPr>
        <p:spPr>
          <a:xfrm>
            <a:off x="335280" y="741673"/>
            <a:ext cx="223520" cy="7280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29;p6">
            <a:extLst>
              <a:ext uri="{FF2B5EF4-FFF2-40B4-BE49-F238E27FC236}">
                <a16:creationId xmlns:a16="http://schemas.microsoft.com/office/drawing/2014/main" id="{1AFDDE1A-F90F-DBBA-DABB-738657DA01E9}"/>
              </a:ext>
            </a:extLst>
          </p:cNvPr>
          <p:cNvSpPr/>
          <p:nvPr userDrawn="1"/>
        </p:nvSpPr>
        <p:spPr>
          <a:xfrm rot="5400000">
            <a:off x="3159760" y="66040"/>
            <a:ext cx="60960" cy="517144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29;p6">
            <a:extLst>
              <a:ext uri="{FF2B5EF4-FFF2-40B4-BE49-F238E27FC236}">
                <a16:creationId xmlns:a16="http://schemas.microsoft.com/office/drawing/2014/main" id="{CBB148FE-E16C-BD26-3109-54D2A2671474}"/>
              </a:ext>
            </a:extLst>
          </p:cNvPr>
          <p:cNvSpPr/>
          <p:nvPr userDrawn="1"/>
        </p:nvSpPr>
        <p:spPr>
          <a:xfrm rot="5400000">
            <a:off x="8971281" y="66040"/>
            <a:ext cx="60960" cy="517144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D9340-4DA6-368A-2C96-0A067EC028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4517" y="1893280"/>
            <a:ext cx="5171440" cy="72800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5571057-F1FA-1B6C-B1F9-A5C51FB19F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6041" y="1893280"/>
            <a:ext cx="5171440" cy="72800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37128B8-9325-B296-D036-01FE872A51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517" y="2729094"/>
            <a:ext cx="5171440" cy="311379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6C256C6-354B-34BC-CB71-9476290FAA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6041" y="2729094"/>
            <a:ext cx="5171440" cy="311379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2" name="Google Shape;29;p6">
            <a:extLst>
              <a:ext uri="{FF2B5EF4-FFF2-40B4-BE49-F238E27FC236}">
                <a16:creationId xmlns:a16="http://schemas.microsoft.com/office/drawing/2014/main" id="{39ABF4E7-0149-C915-061D-61D7897865D9}"/>
              </a:ext>
            </a:extLst>
          </p:cNvPr>
          <p:cNvSpPr/>
          <p:nvPr userDrawn="1"/>
        </p:nvSpPr>
        <p:spPr>
          <a:xfrm>
            <a:off x="0" y="6371480"/>
            <a:ext cx="12192000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A8FB983-FEB3-E603-B630-B66949BEB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738854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;p6">
            <a:extLst>
              <a:ext uri="{FF2B5EF4-FFF2-40B4-BE49-F238E27FC236}">
                <a16:creationId xmlns:a16="http://schemas.microsoft.com/office/drawing/2014/main" id="{26D754C6-189E-F9BA-6B6C-9B415B2C635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4520" y="741673"/>
            <a:ext cx="10982960" cy="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8" name="Google Shape;29;p6">
            <a:extLst>
              <a:ext uri="{FF2B5EF4-FFF2-40B4-BE49-F238E27FC236}">
                <a16:creationId xmlns:a16="http://schemas.microsoft.com/office/drawing/2014/main" id="{63A85EEF-BF80-EAE8-59E0-823C91B85411}"/>
              </a:ext>
            </a:extLst>
          </p:cNvPr>
          <p:cNvSpPr/>
          <p:nvPr userDrawn="1"/>
        </p:nvSpPr>
        <p:spPr>
          <a:xfrm>
            <a:off x="335280" y="741673"/>
            <a:ext cx="223520" cy="7280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80C4080-9F50-C9C4-39EB-2E736A7957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281" y="1798638"/>
            <a:ext cx="3799397" cy="416718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DA45A-323C-EBEB-D432-B4C2C47C54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6301" y="1798637"/>
            <a:ext cx="3799397" cy="416718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456AD52-DDD2-12B2-40BF-E37718DEF4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7322" y="1798637"/>
            <a:ext cx="3799397" cy="416718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5" name="Google Shape;29;p6">
            <a:extLst>
              <a:ext uri="{FF2B5EF4-FFF2-40B4-BE49-F238E27FC236}">
                <a16:creationId xmlns:a16="http://schemas.microsoft.com/office/drawing/2014/main" id="{60CB0EDE-FE00-4926-6358-7CA3CB4EE875}"/>
              </a:ext>
            </a:extLst>
          </p:cNvPr>
          <p:cNvSpPr/>
          <p:nvPr userDrawn="1"/>
        </p:nvSpPr>
        <p:spPr>
          <a:xfrm>
            <a:off x="0" y="6371480"/>
            <a:ext cx="12192000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A8AF39A-45E2-FE68-52E7-C9FB05DB3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509032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paragraph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;p6">
            <a:extLst>
              <a:ext uri="{FF2B5EF4-FFF2-40B4-BE49-F238E27FC236}">
                <a16:creationId xmlns:a16="http://schemas.microsoft.com/office/drawing/2014/main" id="{486E3F59-B21F-8486-B143-AD9D9CB8DC0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4520" y="741673"/>
            <a:ext cx="10982960" cy="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8" name="Google Shape;29;p6">
            <a:extLst>
              <a:ext uri="{FF2B5EF4-FFF2-40B4-BE49-F238E27FC236}">
                <a16:creationId xmlns:a16="http://schemas.microsoft.com/office/drawing/2014/main" id="{FE29B524-E244-A899-7956-67D03BA004B5}"/>
              </a:ext>
            </a:extLst>
          </p:cNvPr>
          <p:cNvSpPr/>
          <p:nvPr userDrawn="1"/>
        </p:nvSpPr>
        <p:spPr>
          <a:xfrm>
            <a:off x="335280" y="741673"/>
            <a:ext cx="223520" cy="7280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01B7CDC-31E3-46F3-15DF-CA726C0C86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281" y="2840845"/>
            <a:ext cx="3799397" cy="31249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6DB45-46CE-CDD2-D3D8-95C2CEB183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6301" y="2840844"/>
            <a:ext cx="3799397" cy="31249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87911D-7334-7C0B-0C22-A32BE17593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7322" y="2840844"/>
            <a:ext cx="3799397" cy="31249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GB" noProof="0" dirty="0"/>
              <a:t>Text</a:t>
            </a:r>
          </a:p>
        </p:txBody>
      </p:sp>
      <p:sp>
        <p:nvSpPr>
          <p:cNvPr id="5" name="Google Shape;29;p6">
            <a:extLst>
              <a:ext uri="{FF2B5EF4-FFF2-40B4-BE49-F238E27FC236}">
                <a16:creationId xmlns:a16="http://schemas.microsoft.com/office/drawing/2014/main" id="{58230A23-C109-E266-A26B-139CEB724A69}"/>
              </a:ext>
            </a:extLst>
          </p:cNvPr>
          <p:cNvSpPr/>
          <p:nvPr userDrawn="1"/>
        </p:nvSpPr>
        <p:spPr>
          <a:xfrm rot="5400000">
            <a:off x="2204502" y="882384"/>
            <a:ext cx="60960" cy="3799397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200A40B-363A-55D9-550F-1D6B467BC3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280" y="2023603"/>
            <a:ext cx="3799397" cy="728000"/>
          </a:xfrm>
        </p:spPr>
        <p:txBody>
          <a:bodyPr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20" name="Google Shape;29;p6">
            <a:extLst>
              <a:ext uri="{FF2B5EF4-FFF2-40B4-BE49-F238E27FC236}">
                <a16:creationId xmlns:a16="http://schemas.microsoft.com/office/drawing/2014/main" id="{781596D6-C997-8C79-FCFF-7BF213DBA27E}"/>
              </a:ext>
            </a:extLst>
          </p:cNvPr>
          <p:cNvSpPr/>
          <p:nvPr userDrawn="1"/>
        </p:nvSpPr>
        <p:spPr>
          <a:xfrm rot="5400000">
            <a:off x="6065519" y="882384"/>
            <a:ext cx="60960" cy="3799397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0EBAE4-2196-344E-F4E8-242A15167F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6297" y="2023603"/>
            <a:ext cx="3799397" cy="728000"/>
          </a:xfrm>
        </p:spPr>
        <p:txBody>
          <a:bodyPr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22" name="Google Shape;29;p6">
            <a:extLst>
              <a:ext uri="{FF2B5EF4-FFF2-40B4-BE49-F238E27FC236}">
                <a16:creationId xmlns:a16="http://schemas.microsoft.com/office/drawing/2014/main" id="{7D156F26-48F0-E6E0-4DAE-C0C588A61A76}"/>
              </a:ext>
            </a:extLst>
          </p:cNvPr>
          <p:cNvSpPr/>
          <p:nvPr userDrawn="1"/>
        </p:nvSpPr>
        <p:spPr>
          <a:xfrm rot="5400000">
            <a:off x="9926532" y="882384"/>
            <a:ext cx="60960" cy="3799397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8CCF91F-99F5-05A7-CD97-4FC02C2ED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57310" y="2023603"/>
            <a:ext cx="3799397" cy="728000"/>
          </a:xfrm>
        </p:spPr>
        <p:txBody>
          <a:bodyPr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9" name="Google Shape;29;p6">
            <a:extLst>
              <a:ext uri="{FF2B5EF4-FFF2-40B4-BE49-F238E27FC236}">
                <a16:creationId xmlns:a16="http://schemas.microsoft.com/office/drawing/2014/main" id="{470C6516-B350-664E-4F02-677752C41E13}"/>
              </a:ext>
            </a:extLst>
          </p:cNvPr>
          <p:cNvSpPr/>
          <p:nvPr userDrawn="1"/>
        </p:nvSpPr>
        <p:spPr>
          <a:xfrm>
            <a:off x="0" y="6371480"/>
            <a:ext cx="12192000" cy="52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2811048-847E-0E02-8C9A-A4BAD40F0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38410079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Work">
    <p:bg>
      <p:bgPr>
        <a:solidFill>
          <a:srgbClr val="FFF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;p7">
            <a:extLst>
              <a:ext uri="{FF2B5EF4-FFF2-40B4-BE49-F238E27FC236}">
                <a16:creationId xmlns:a16="http://schemas.microsoft.com/office/drawing/2014/main" id="{F5A361E0-7EAD-F61A-EC46-BB3797A97082}"/>
              </a:ext>
            </a:extLst>
          </p:cNvPr>
          <p:cNvSpPr/>
          <p:nvPr userDrawn="1"/>
        </p:nvSpPr>
        <p:spPr>
          <a:xfrm>
            <a:off x="0" y="0"/>
            <a:ext cx="609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" name="Google Shape;10;p2">
            <a:extLst>
              <a:ext uri="{FF2B5EF4-FFF2-40B4-BE49-F238E27FC236}">
                <a16:creationId xmlns:a16="http://schemas.microsoft.com/office/drawing/2014/main" id="{3575B686-E65C-E9D8-1849-454E3C33ED01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14113" y="620111"/>
            <a:ext cx="4870174" cy="54427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4800" b="1">
                <a:solidFill>
                  <a:schemeClr val="accent6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pic>
        <p:nvPicPr>
          <p:cNvPr id="2" name="Picture 1" descr="Shape  Description automatically generated with low confidence">
            <a:extLst>
              <a:ext uri="{FF2B5EF4-FFF2-40B4-BE49-F238E27FC236}">
                <a16:creationId xmlns:a16="http://schemas.microsoft.com/office/drawing/2014/main" id="{7A1238F4-1210-1A11-168B-346AE38CD3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942" y="1040527"/>
            <a:ext cx="4776945" cy="4776945"/>
          </a:xfrm>
          <a:prstGeom prst="rect">
            <a:avLst/>
          </a:prstGeom>
          <a:ln w="38100">
            <a:solidFill>
              <a:srgbClr val="000000"/>
            </a:solidFill>
          </a:ln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09B2A5F-2E65-DFDD-161E-14624FE14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4113" y="631782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28401439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gunta para debat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;p7">
            <a:extLst>
              <a:ext uri="{FF2B5EF4-FFF2-40B4-BE49-F238E27FC236}">
                <a16:creationId xmlns:a16="http://schemas.microsoft.com/office/drawing/2014/main" id="{BD9A2483-FB1F-FF52-2598-25BB4CF598DD}"/>
              </a:ext>
            </a:extLst>
          </p:cNvPr>
          <p:cNvSpPr/>
          <p:nvPr userDrawn="1"/>
        </p:nvSpPr>
        <p:spPr>
          <a:xfrm>
            <a:off x="0" y="0"/>
            <a:ext cx="609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62A98490-1BFC-DE3A-8592-880C2D8325C2}"/>
              </a:ext>
            </a:extLst>
          </p:cNvPr>
          <p:cNvSpPr/>
          <p:nvPr userDrawn="1"/>
        </p:nvSpPr>
        <p:spPr>
          <a:xfrm>
            <a:off x="7156906" y="890199"/>
            <a:ext cx="3805575" cy="3419932"/>
          </a:xfrm>
          <a:prstGeom prst="ellipse">
            <a:avLst/>
          </a:prstGeom>
          <a:solidFill>
            <a:schemeClr val="accent3"/>
          </a:solidFill>
          <a:ln w="28575">
            <a:solidFill>
              <a:schemeClr val="accent6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: Rounded Corners 10">
            <a:extLst>
              <a:ext uri="{FF2B5EF4-FFF2-40B4-BE49-F238E27FC236}">
                <a16:creationId xmlns:a16="http://schemas.microsoft.com/office/drawing/2014/main" id="{DDFC6D60-135F-C973-C1C5-FBCB4A402B47}"/>
              </a:ext>
            </a:extLst>
          </p:cNvPr>
          <p:cNvSpPr/>
          <p:nvPr userDrawn="1"/>
        </p:nvSpPr>
        <p:spPr>
          <a:xfrm>
            <a:off x="6988321" y="4556005"/>
            <a:ext cx="4169108" cy="103170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28575">
            <a:solidFill>
              <a:schemeClr val="accent6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400" b="1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1694BF45-A193-28EC-A6EB-DC1F62282B21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14113" y="620111"/>
            <a:ext cx="4870174" cy="54427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4800" b="1">
                <a:solidFill>
                  <a:schemeClr val="accent6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531CDB-363C-8F96-1AF7-B7EB7DB071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27262" y="4743849"/>
            <a:ext cx="4064864" cy="6560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Instructions</a:t>
            </a:r>
          </a:p>
        </p:txBody>
      </p:sp>
      <p:pic>
        <p:nvPicPr>
          <p:cNvPr id="12" name="Picture 1" descr="Shape  Description automatically generated with low confidence">
            <a:extLst>
              <a:ext uri="{FF2B5EF4-FFF2-40B4-BE49-F238E27FC236}">
                <a16:creationId xmlns:a16="http://schemas.microsoft.com/office/drawing/2014/main" id="{AD6FBCC0-AF44-12B8-4957-EC8B0596AB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907" y="744560"/>
            <a:ext cx="3565571" cy="3565571"/>
          </a:xfrm>
          <a:prstGeom prst="rect">
            <a:avLst/>
          </a:prstGeom>
          <a:ln w="38100">
            <a:noFill/>
          </a:ln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178FC90-3968-9D6A-EAF4-98E8253DE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4113" y="631782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32114627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llev 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;p7">
            <a:extLst>
              <a:ext uri="{FF2B5EF4-FFF2-40B4-BE49-F238E27FC236}">
                <a16:creationId xmlns:a16="http://schemas.microsoft.com/office/drawing/2014/main" id="{F5A361E0-7EAD-F61A-EC46-BB3797A97082}"/>
              </a:ext>
            </a:extLst>
          </p:cNvPr>
          <p:cNvSpPr/>
          <p:nvPr userDrawn="1"/>
        </p:nvSpPr>
        <p:spPr>
          <a:xfrm>
            <a:off x="0" y="0"/>
            <a:ext cx="609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1AF5F-A151-FE99-7E6D-AFBEB16773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46574" y="674112"/>
            <a:ext cx="5052391" cy="5483620"/>
          </a:xfrm>
        </p:spPr>
        <p:txBody>
          <a:bodyPr anchor="ctr" anchorCtr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+mj-lt"/>
              <a:buAutoNum type="alphaUcPeriod"/>
              <a:defRPr sz="2400"/>
            </a:lvl1pPr>
          </a:lstStyle>
          <a:p>
            <a:pPr lvl="0"/>
            <a:r>
              <a:rPr lang="en-GB" noProof="0" dirty="0"/>
              <a:t>Answer option</a:t>
            </a:r>
          </a:p>
        </p:txBody>
      </p:sp>
      <p:sp>
        <p:nvSpPr>
          <p:cNvPr id="4" name="Google Shape;10;p2">
            <a:extLst>
              <a:ext uri="{FF2B5EF4-FFF2-40B4-BE49-F238E27FC236}">
                <a16:creationId xmlns:a16="http://schemas.microsoft.com/office/drawing/2014/main" id="{3575B686-E65C-E9D8-1849-454E3C33ED01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14113" y="620111"/>
            <a:ext cx="4870174" cy="54427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4800" b="1">
                <a:solidFill>
                  <a:schemeClr val="accent6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 err="1"/>
              <a:t>PollEv</a:t>
            </a:r>
            <a:endParaRPr lang="en-GB" noProof="0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4562E22-D58B-204F-3AE1-9048097B4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4113" y="631782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1503518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llev QR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;p7">
            <a:extLst>
              <a:ext uri="{FF2B5EF4-FFF2-40B4-BE49-F238E27FC236}">
                <a16:creationId xmlns:a16="http://schemas.microsoft.com/office/drawing/2014/main" id="{4C5717ED-FDE1-F404-D238-0030717373B8}"/>
              </a:ext>
            </a:extLst>
          </p:cNvPr>
          <p:cNvSpPr/>
          <p:nvPr userDrawn="1"/>
        </p:nvSpPr>
        <p:spPr>
          <a:xfrm>
            <a:off x="0" y="0"/>
            <a:ext cx="609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" name="Google Shape;10;p2">
            <a:extLst>
              <a:ext uri="{FF2B5EF4-FFF2-40B4-BE49-F238E27FC236}">
                <a16:creationId xmlns:a16="http://schemas.microsoft.com/office/drawing/2014/main" id="{B9074F3D-BC13-DB89-7776-F495A7D2ED2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14113" y="620111"/>
            <a:ext cx="4870174" cy="54427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4800" b="1">
                <a:solidFill>
                  <a:schemeClr val="accent6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 err="1"/>
              <a:t>PollEv</a:t>
            </a:r>
            <a:endParaRPr lang="en-GB" noProof="0" dirty="0"/>
          </a:p>
        </p:txBody>
      </p:sp>
      <p:pic>
        <p:nvPicPr>
          <p:cNvPr id="4" name="Picture 3" descr="Qr code  Description automatically generated">
            <a:extLst>
              <a:ext uri="{FF2B5EF4-FFF2-40B4-BE49-F238E27FC236}">
                <a16:creationId xmlns:a16="http://schemas.microsoft.com/office/drawing/2014/main" id="{61D1E8C6-492B-1727-6718-C15B606160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26947" y="218959"/>
            <a:ext cx="4932383" cy="4932383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3" name="Oval 7">
            <a:extLst>
              <a:ext uri="{FF2B5EF4-FFF2-40B4-BE49-F238E27FC236}">
                <a16:creationId xmlns:a16="http://schemas.microsoft.com/office/drawing/2014/main" id="{1787DC2E-F442-ED7E-2C9F-0853B69B9C9E}"/>
              </a:ext>
            </a:extLst>
          </p:cNvPr>
          <p:cNvSpPr/>
          <p:nvPr userDrawn="1"/>
        </p:nvSpPr>
        <p:spPr>
          <a:xfrm>
            <a:off x="6586106" y="5341795"/>
            <a:ext cx="1068088" cy="1036894"/>
          </a:xfrm>
          <a:prstGeom prst="ellipse">
            <a:avLst/>
          </a:prstGeom>
          <a:solidFill>
            <a:schemeClr val="accent3"/>
          </a:solidFill>
          <a:ln w="28575">
            <a:solidFill>
              <a:schemeClr val="accent6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8" name="Picture 2" descr="No ">
            <a:extLst>
              <a:ext uri="{FF2B5EF4-FFF2-40B4-BE49-F238E27FC236}">
                <a16:creationId xmlns:a16="http://schemas.microsoft.com/office/drawing/2014/main" id="{A8398E4F-9AC7-7206-2A5E-35700C8CA8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357" y="559868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45AB557A-2C75-6F7B-F7DF-88C7C3872C26}"/>
              </a:ext>
            </a:extLst>
          </p:cNvPr>
          <p:cNvSpPr/>
          <p:nvPr userDrawn="1"/>
        </p:nvSpPr>
        <p:spPr>
          <a:xfrm>
            <a:off x="7734264" y="5261644"/>
            <a:ext cx="3907421" cy="117596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28575">
            <a:solidFill>
              <a:schemeClr val="accent6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400" b="1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0B9B7A-42E3-D99A-FD41-55B9517575BF}"/>
              </a:ext>
            </a:extLst>
          </p:cNvPr>
          <p:cNvSpPr txBox="1"/>
          <p:nvPr userDrawn="1"/>
        </p:nvSpPr>
        <p:spPr>
          <a:xfrm>
            <a:off x="7816615" y="5490880"/>
            <a:ext cx="37427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kern="0" noProof="0">
                <a:solidFill>
                  <a:schemeClr val="accent1"/>
                </a:solidFill>
                <a:latin typeface="Segoe UI"/>
                <a:ea typeface="+mj-ea"/>
                <a:cs typeface="Segoe UI"/>
                <a:sym typeface="Segoe UI"/>
              </a:rPr>
              <a:t xml:space="preserve">Scan the QR code </a:t>
            </a:r>
            <a:r>
              <a:rPr lang="en-GB" sz="2000" b="1" kern="0" noProof="0">
                <a:solidFill>
                  <a:schemeClr val="accent1"/>
                </a:solidFill>
                <a:latin typeface="Segoe UI"/>
                <a:ea typeface="+mj-ea"/>
                <a:cs typeface="Segoe UI"/>
                <a:sym typeface="Segoe UI"/>
              </a:rPr>
              <a:t xml:space="preserve">or </a:t>
            </a:r>
            <a:r>
              <a:rPr lang="en-GB" sz="2000" kern="0" noProof="0">
                <a:solidFill>
                  <a:schemeClr val="accent1"/>
                </a:solidFill>
                <a:latin typeface="Segoe UI"/>
                <a:cs typeface="Segoe UI"/>
                <a:sym typeface="Segoe UI"/>
              </a:rPr>
              <a:t xml:space="preserve">visit </a:t>
            </a:r>
            <a:r>
              <a:rPr lang="en-GB" sz="2000" kern="0" noProof="0">
                <a:solidFill>
                  <a:srgbClr val="FFFF00"/>
                </a:solidFill>
                <a:latin typeface="Segoe UI"/>
                <a:cs typeface="Segoe UI"/>
                <a:sym typeface="Segoe UI"/>
              </a:rPr>
              <a:t>pollev.com/</a:t>
            </a:r>
            <a:r>
              <a:rPr lang="en-GB" sz="2000" kern="0" noProof="0" err="1">
                <a:solidFill>
                  <a:srgbClr val="FFFF00"/>
                </a:solidFill>
                <a:latin typeface="Segoe UI"/>
                <a:cs typeface="Segoe UI"/>
                <a:sym typeface="Segoe UI"/>
              </a:rPr>
              <a:t>danlevy</a:t>
            </a:r>
            <a:endParaRPr lang="en-GB" sz="2000" kern="0" noProof="0">
              <a:solidFill>
                <a:srgbClr val="FFFF00"/>
              </a:solidFill>
              <a:latin typeface="Segoe UI"/>
              <a:cs typeface="Segoe UI"/>
              <a:sym typeface="Segoe U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04E7E-5BE9-8051-861F-DFD96CA37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4113" y="631782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14462685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t Ques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5FC2A6-22EF-DDCE-5765-1C634DC06EA4}"/>
              </a:ext>
            </a:extLst>
          </p:cNvPr>
          <p:cNvSpPr/>
          <p:nvPr userDrawn="1"/>
        </p:nvSpPr>
        <p:spPr>
          <a:xfrm>
            <a:off x="556591" y="708132"/>
            <a:ext cx="7623314" cy="5384553"/>
          </a:xfrm>
          <a:prstGeom prst="rect">
            <a:avLst/>
          </a:prstGeom>
          <a:noFill/>
          <a:ln w="28575">
            <a:solidFill>
              <a:schemeClr val="accent6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25D32A3F-CA5F-D37A-F2EA-716B09802518}"/>
              </a:ext>
            </a:extLst>
          </p:cNvPr>
          <p:cNvSpPr/>
          <p:nvPr userDrawn="1"/>
        </p:nvSpPr>
        <p:spPr>
          <a:xfrm>
            <a:off x="8507897" y="1612593"/>
            <a:ext cx="3223593" cy="3098554"/>
          </a:xfrm>
          <a:prstGeom prst="wedgeEllipseCallout">
            <a:avLst>
              <a:gd name="adj1" fmla="val -28981"/>
              <a:gd name="adj2" fmla="val 36403"/>
            </a:avLst>
          </a:prstGeom>
          <a:solidFill>
            <a:schemeClr val="accent3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B8DECA-CAA5-CE80-760A-21D00D0EA5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92209" y="1919478"/>
            <a:ext cx="2503435" cy="2503435"/>
          </a:xfrm>
          <a:prstGeom prst="rect">
            <a:avLst/>
          </a:prstGeom>
        </p:spPr>
      </p:pic>
      <p:sp>
        <p:nvSpPr>
          <p:cNvPr id="2" name="Google Shape;10;p2">
            <a:extLst>
              <a:ext uri="{FF2B5EF4-FFF2-40B4-BE49-F238E27FC236}">
                <a16:creationId xmlns:a16="http://schemas.microsoft.com/office/drawing/2014/main" id="{25BEC683-8EA0-86F9-B7F0-5F65CAC0889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796355" y="888754"/>
            <a:ext cx="7145009" cy="414793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4800" b="1">
                <a:solidFill>
                  <a:schemeClr val="accent6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/>
              <a:t>Question</a:t>
            </a:r>
          </a:p>
        </p:txBody>
      </p:sp>
      <p:sp>
        <p:nvSpPr>
          <p:cNvPr id="3" name="Rectangle: Rounded Corners 10">
            <a:extLst>
              <a:ext uri="{FF2B5EF4-FFF2-40B4-BE49-F238E27FC236}">
                <a16:creationId xmlns:a16="http://schemas.microsoft.com/office/drawing/2014/main" id="{E1E849AF-C7C7-A32B-1E3F-C1D214E1D0F4}"/>
              </a:ext>
            </a:extLst>
          </p:cNvPr>
          <p:cNvSpPr/>
          <p:nvPr userDrawn="1"/>
        </p:nvSpPr>
        <p:spPr>
          <a:xfrm>
            <a:off x="796355" y="5152765"/>
            <a:ext cx="7145009" cy="816481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28575">
            <a:solidFill>
              <a:schemeClr val="accent6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400" b="1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4A81ADD-0608-373E-8A8C-9961C006BA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6355" y="5236678"/>
            <a:ext cx="7145009" cy="65601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GB" noProof="0" dirty="0"/>
              <a:t>Instructions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AC3B1B-C799-90B9-CA45-42CFAFB3EB64}"/>
              </a:ext>
            </a:extLst>
          </p:cNvPr>
          <p:cNvSpPr txBox="1">
            <a:spLocks/>
          </p:cNvSpPr>
          <p:nvPr userDrawn="1"/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tx1"/>
                </a:solidFill>
              </a:rPr>
              <a:t xml:space="preserve">Dan Levy | Advanced Quantitative Methods (API-209) | Harvard Kennedy School | </a:t>
            </a:r>
          </a:p>
        </p:txBody>
      </p:sp>
    </p:spTree>
    <p:extLst>
      <p:ext uri="{BB962C8B-B14F-4D97-AF65-F5344CB8AC3E}">
        <p14:creationId xmlns:p14="http://schemas.microsoft.com/office/powerpoint/2010/main" val="1780756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4;p11">
            <a:extLst>
              <a:ext uri="{FF2B5EF4-FFF2-40B4-BE49-F238E27FC236}">
                <a16:creationId xmlns:a16="http://schemas.microsoft.com/office/drawing/2014/main" id="{ABEA1EB3-6285-2352-D3D9-ED3BDB8BBAB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394993" y="1729408"/>
            <a:ext cx="9404400" cy="3527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Playfair Display"/>
              <a:buNone/>
              <a:defRPr sz="2400" b="1">
                <a:solidFill>
                  <a:schemeClr val="lt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/>
              <a:t>Quote</a:t>
            </a:r>
          </a:p>
        </p:txBody>
      </p:sp>
      <p:sp>
        <p:nvSpPr>
          <p:cNvPr id="7" name="Google Shape;45;p11">
            <a:extLst>
              <a:ext uri="{FF2B5EF4-FFF2-40B4-BE49-F238E27FC236}">
                <a16:creationId xmlns:a16="http://schemas.microsoft.com/office/drawing/2014/main" id="{06788770-F52D-45C8-1B4E-7950AFC9D1B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147900" y="5420447"/>
            <a:ext cx="5942800" cy="5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noProof="0" dirty="0"/>
              <a:t>Author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88E64-96A1-94F1-BEE9-80C33F06FC3D}"/>
              </a:ext>
            </a:extLst>
          </p:cNvPr>
          <p:cNvSpPr/>
          <p:nvPr userDrawn="1"/>
        </p:nvSpPr>
        <p:spPr>
          <a:xfrm>
            <a:off x="1053548" y="1550503"/>
            <a:ext cx="10088217" cy="4542182"/>
          </a:xfrm>
          <a:prstGeom prst="rect">
            <a:avLst/>
          </a:prstGeom>
          <a:noFill/>
          <a:ln w="28575">
            <a:solidFill>
              <a:schemeClr val="accent6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EB1934A6-587A-3AC8-6938-8EDF1F24BA03}"/>
              </a:ext>
            </a:extLst>
          </p:cNvPr>
          <p:cNvSpPr/>
          <p:nvPr userDrawn="1"/>
        </p:nvSpPr>
        <p:spPr>
          <a:xfrm>
            <a:off x="10154477" y="400020"/>
            <a:ext cx="987288" cy="987288"/>
          </a:xfrm>
          <a:prstGeom prst="wedgeEllipseCallout">
            <a:avLst>
              <a:gd name="adj1" fmla="val -41622"/>
              <a:gd name="adj2" fmla="val 46988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0A7581-7634-AC86-7D27-61668FB655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1116" y="708132"/>
            <a:ext cx="434009" cy="434009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8B40BEB-5ADE-C7FE-D348-0FC57CD65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3243506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2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4;p11">
            <a:extLst>
              <a:ext uri="{FF2B5EF4-FFF2-40B4-BE49-F238E27FC236}">
                <a16:creationId xmlns:a16="http://schemas.microsoft.com/office/drawing/2014/main" id="{AD4BA038-A508-C70C-717D-0CEE5B0592B5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6409" y="944216"/>
            <a:ext cx="7166113" cy="46274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Playfair Display"/>
              <a:buNone/>
              <a:defRPr sz="2400" b="1" i="0">
                <a:solidFill>
                  <a:schemeClr val="lt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GB" noProof="0" dirty="0"/>
              <a:t>Quote</a:t>
            </a:r>
          </a:p>
        </p:txBody>
      </p:sp>
      <p:sp>
        <p:nvSpPr>
          <p:cNvPr id="7" name="Google Shape;45;p11">
            <a:extLst>
              <a:ext uri="{FF2B5EF4-FFF2-40B4-BE49-F238E27FC236}">
                <a16:creationId xmlns:a16="http://schemas.microsoft.com/office/drawing/2014/main" id="{A25945C5-1477-D516-22BF-E8A36DC4082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597347" y="4800600"/>
            <a:ext cx="2753139" cy="7710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noProof="0" dirty="0"/>
              <a:t>Author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EA4305C-2F7A-46BF-3E3F-DBD3D69A7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587" y="6503328"/>
            <a:ext cx="6940826" cy="2611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56B58C-F4D8-F3EA-C44C-1DAFC00285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97347" y="1896667"/>
            <a:ext cx="2752725" cy="272256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7523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714375" y="1732359"/>
            <a:ext cx="10763250" cy="1785938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14375" y="3625453"/>
            <a:ext cx="10763250" cy="60721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87">
                <a:solidFill>
                  <a:srgbClr val="FFFFFF"/>
                </a:solidFill>
              </a:defRPr>
            </a:lvl1pPr>
            <a:lvl2pPr marL="0" indent="0" algn="ctr">
              <a:spcBef>
                <a:spcPts val="0"/>
              </a:spcBef>
              <a:buSzTx/>
              <a:buNone/>
              <a:defRPr sz="1687">
                <a:solidFill>
                  <a:srgbClr val="FFFFFF"/>
                </a:solidFill>
              </a:defRPr>
            </a:lvl2pPr>
            <a:lvl3pPr marL="0" indent="0" algn="ctr">
              <a:spcBef>
                <a:spcPts val="0"/>
              </a:spcBef>
              <a:buSzTx/>
              <a:buNone/>
              <a:defRPr sz="1687">
                <a:solidFill>
                  <a:srgbClr val="FFFFFF"/>
                </a:solidFill>
              </a:defRPr>
            </a:lvl3pPr>
            <a:lvl4pPr marL="0" indent="0" algn="ctr">
              <a:spcBef>
                <a:spcPts val="0"/>
              </a:spcBef>
              <a:buSzTx/>
              <a:buNone/>
              <a:defRPr sz="1687">
                <a:solidFill>
                  <a:srgbClr val="FFFFFF"/>
                </a:solidFill>
              </a:defRPr>
            </a:lvl4pPr>
            <a:lvl5pPr marL="0" indent="0" algn="ctr">
              <a:spcBef>
                <a:spcPts val="0"/>
              </a:spcBef>
              <a:buSzTx/>
              <a:buNone/>
              <a:defRPr sz="1687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17310" y="6505277"/>
            <a:ext cx="345473" cy="263391"/>
          </a:xfrm>
          <a:prstGeom prst="rect">
            <a:avLst/>
          </a:prstGeom>
        </p:spPr>
        <p:txBody>
          <a:bodyPr anchor="t"/>
          <a:lstStyle/>
          <a:p>
            <a:pPr>
              <a:defRPr>
                <a:effectLst/>
              </a:defRPr>
            </a:pPr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830683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55553" y="5762625"/>
            <a:ext cx="274543" cy="207765"/>
          </a:xfrm>
          <a:prstGeom prst="rect">
            <a:avLst/>
          </a:prstGeom>
        </p:spPr>
        <p:txBody>
          <a:bodyPr lIns="27093" tIns="27093" rIns="27093" bIns="27093" anchor="t"/>
          <a:lstStyle>
            <a:lvl1pPr defTabSz="412735">
              <a:defRPr sz="1125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789803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200925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xfrm>
            <a:off x="2059781" y="2712393"/>
            <a:ext cx="8072439" cy="1433216"/>
          </a:xfrm>
          <a:prstGeom prst="rect">
            <a:avLst/>
          </a:prstGeom>
        </p:spPr>
        <p:txBody>
          <a:bodyPr lIns="38100" tIns="38100" rIns="38100" bIns="3810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43946" y="5736208"/>
            <a:ext cx="295180" cy="210312"/>
          </a:xfrm>
          <a:prstGeom prst="rect">
            <a:avLst/>
          </a:prstGeom>
        </p:spPr>
        <p:txBody>
          <a:bodyPr lIns="38100" tIns="38100" rIns="38100" bIns="38100" anchor="t"/>
          <a:lstStyle>
            <a:lvl1pPr>
              <a:defRPr sz="1125"/>
            </a:lvl1pPr>
          </a:lstStyle>
          <a:p>
            <a:pPr>
              <a:defRPr>
                <a:effectLst/>
              </a:defRPr>
            </a:pPr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0982776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>
            <a:spLocks noGrp="1"/>
          </p:cNvSpPr>
          <p:nvPr>
            <p:ph type="pic" sz="quarter" idx="21"/>
          </p:nvPr>
        </p:nvSpPr>
        <p:spPr>
          <a:xfrm>
            <a:off x="9005841" y="1018870"/>
            <a:ext cx="3462844" cy="1731422"/>
          </a:xfrm>
          <a:prstGeom prst="rect">
            <a:avLst/>
          </a:prstGeom>
          <a:ln w="25400"/>
          <a:effectLst>
            <a:outerShdw blurRad="127000" dist="63500" dir="5400000" rotWithShape="0">
              <a:srgbClr val="000000">
                <a:alpha val="70000"/>
              </a:srgbClr>
            </a:outerShdw>
          </a:effectLst>
        </p:spPr>
        <p:txBody>
          <a:bodyPr lIns="91439" tIns="45719" rIns="91439" bIns="45719" anchor="t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35" name="Title Text"/>
          <p:cNvSpPr txBox="1">
            <a:spLocks noGrp="1"/>
          </p:cNvSpPr>
          <p:nvPr>
            <p:ph type="title"/>
          </p:nvPr>
        </p:nvSpPr>
        <p:spPr>
          <a:xfrm>
            <a:off x="844550" y="1214437"/>
            <a:ext cx="8121651" cy="857251"/>
          </a:xfrm>
          <a:prstGeom prst="rect">
            <a:avLst/>
          </a:prstGeom>
        </p:spPr>
        <p:txBody>
          <a:bodyPr lIns="27093" tIns="27093" rIns="27093" bIns="27093"/>
          <a:lstStyle>
            <a:lvl1pPr defTabSz="412735">
              <a:defRPr sz="689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>
              <a:defRPr>
                <a:effectLst/>
              </a:defRPr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2071687"/>
            <a:ext cx="8441804" cy="3452813"/>
          </a:xfrm>
          <a:prstGeom prst="rect">
            <a:avLst/>
          </a:prstGeom>
        </p:spPr>
        <p:txBody>
          <a:bodyPr lIns="27093" tIns="27093" rIns="27093" bIns="27093"/>
          <a:lstStyle>
            <a:lvl1pPr marL="0" indent="0" defTabSz="412735">
              <a:spcBef>
                <a:spcPts val="2250"/>
              </a:spcBef>
              <a:buSzTx/>
              <a:buNone/>
              <a:defRPr sz="3094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160729" defTabSz="412735">
              <a:spcBef>
                <a:spcPts val="2250"/>
              </a:spcBef>
              <a:buSzTx/>
              <a:buNone/>
              <a:defRPr sz="3094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2pPr>
            <a:lvl3pPr marL="0" indent="321457" defTabSz="412735">
              <a:spcBef>
                <a:spcPts val="2250"/>
              </a:spcBef>
              <a:buSzTx/>
              <a:buNone/>
              <a:defRPr sz="3094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3pPr>
            <a:lvl4pPr marL="0" indent="482186" defTabSz="412735">
              <a:spcBef>
                <a:spcPts val="2250"/>
              </a:spcBef>
              <a:buSzTx/>
              <a:buNone/>
              <a:defRPr sz="3094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4pPr>
            <a:lvl5pPr marL="0" indent="642915" defTabSz="412735">
              <a:spcBef>
                <a:spcPts val="2250"/>
              </a:spcBef>
              <a:buSzTx/>
              <a:buNone/>
              <a:defRPr sz="3094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 lvl="0">
              <a:defRPr>
                <a:effectLst/>
              </a:defRPr>
            </a:pPr>
            <a:r>
              <a:rPr lang="en-US"/>
              <a:t>Click to edit Master text styles</a:t>
            </a:r>
          </a:p>
          <a:p>
            <a:pPr lvl="1">
              <a:defRPr>
                <a:effectLst/>
              </a:defRPr>
            </a:pPr>
            <a:r>
              <a:rPr lang="en-US"/>
              <a:t>Second level</a:t>
            </a:r>
          </a:p>
          <a:p>
            <a:pPr lvl="2">
              <a:defRPr>
                <a:effectLst/>
              </a:defRPr>
            </a:pPr>
            <a:r>
              <a:rPr lang="en-US"/>
              <a:t>Third level</a:t>
            </a:r>
          </a:p>
          <a:p>
            <a:pPr lvl="3">
              <a:defRPr>
                <a:effectLst/>
              </a:defRPr>
            </a:pPr>
            <a:r>
              <a:rPr lang="en-US"/>
              <a:t>Fourth level</a:t>
            </a:r>
          </a:p>
          <a:p>
            <a:pPr lvl="4">
              <a:defRPr>
                <a:effectLst/>
              </a:defRPr>
            </a:pPr>
            <a:r>
              <a:rPr lang="en-US"/>
              <a:t>Fifth level</a:t>
            </a:r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55553" y="5762625"/>
            <a:ext cx="274543" cy="207765"/>
          </a:xfrm>
          <a:prstGeom prst="rect">
            <a:avLst/>
          </a:prstGeom>
        </p:spPr>
        <p:txBody>
          <a:bodyPr lIns="27093" tIns="27093" rIns="27093" bIns="27093" anchor="t"/>
          <a:lstStyle>
            <a:lvl1pPr defTabSz="412735">
              <a:defRPr sz="1125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1991106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609600" y="1524001"/>
            <a:ext cx="10972800" cy="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19298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0B8A57-0E15-58A2-8B06-0BA5F4EF6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9183E-0A62-3370-30C5-02E057E1D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8A79C-6B0D-CA80-B4A6-FA8501C10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1BA6EA0-AD8F-4115-984A-DBB7EC9C8D72}" type="datetime1">
              <a:rPr lang="en-GB" smtClean="0"/>
              <a:t>Fall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E10CA-1705-368F-B27F-12600A7C5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Dan Levy | Advanced Quantitative Methods (API-209) | Harvard Kennedy School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5C4EA-06B6-55F0-ED5F-FEBF820CE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B84E8494-0111-4603-97BD-91B064F2B03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617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84" r:id="rId3"/>
    <p:sldLayoutId id="2147483663" r:id="rId4"/>
    <p:sldLayoutId id="2147483685" r:id="rId5"/>
    <p:sldLayoutId id="2147483662" r:id="rId6"/>
    <p:sldLayoutId id="2147483676" r:id="rId7"/>
    <p:sldLayoutId id="2147483678" r:id="rId8"/>
    <p:sldLayoutId id="2147483664" r:id="rId9"/>
    <p:sldLayoutId id="2147483690" r:id="rId10"/>
    <p:sldLayoutId id="2147483686" r:id="rId11"/>
    <p:sldLayoutId id="2147483675" r:id="rId12"/>
    <p:sldLayoutId id="2147483651" r:id="rId13"/>
    <p:sldLayoutId id="2147483665" r:id="rId14"/>
    <p:sldLayoutId id="2147483666" r:id="rId15"/>
    <p:sldLayoutId id="2147483667" r:id="rId16"/>
    <p:sldLayoutId id="2147483668" r:id="rId17"/>
    <p:sldLayoutId id="2147483681" r:id="rId18"/>
    <p:sldLayoutId id="2147483687" r:id="rId19"/>
    <p:sldLayoutId id="2147483669" r:id="rId20"/>
    <p:sldLayoutId id="2147483688" r:id="rId21"/>
    <p:sldLayoutId id="2147483689" r:id="rId22"/>
    <p:sldLayoutId id="2147483671" r:id="rId23"/>
    <p:sldLayoutId id="2147483672" r:id="rId24"/>
    <p:sldLayoutId id="2147483691" r:id="rId25"/>
    <p:sldLayoutId id="2147483692" r:id="rId26"/>
    <p:sldLayoutId id="2147483693" r:id="rId27"/>
    <p:sldLayoutId id="2147483694" r:id="rId28"/>
    <p:sldLayoutId id="2147483695" r:id="rId29"/>
    <p:sldLayoutId id="2147483696" r:id="rId3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irmala UI" panose="020B0502040204020203" pitchFamily="34" charset="0"/>
          <a:ea typeface="Nirmala UI" panose="020B0502040204020203" pitchFamily="34" charset="0"/>
          <a:cs typeface="Nirmala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hyperlink" Target="http://www.pollev.com/danlev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?><Relationships xmlns="http://schemas.openxmlformats.org/package/2006/relationships"><Relationship Id="rId8" Type="http://schemas.openxmlformats.org/officeDocument/2006/relationships/image" Target="../media/image17.tif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jpe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jpe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jpeg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jpeg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jpeg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projects.fivethirtyeight.com/2016-election-forecast/" TargetMode="Externa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33.t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/Relationships>
</file>

<file path=ppt/slides/_rels/slide32.xml.rels><?xml version="1.0" encoding="UTF-8"?>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?>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?>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?>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?>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39.xml.rels><?xml version="1.0" encoding="UTF-8"?>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0.xml.rels><?xml version="1.0" encoding="UTF-8"?>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1.xml.rels><?xml version="1.0" encoding="UTF-8"?>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?><Relationships xmlns="http://schemas.openxmlformats.org/package/2006/relationships"><Relationship Id="rId3" Type="http://schemas.openxmlformats.org/officeDocument/2006/relationships/image" Target="../media/image39.t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1.jpeg"/><Relationship Id="rId4" Type="http://schemas.openxmlformats.org/officeDocument/2006/relationships/image" Target="../media/image40.tif"/></Relationships>
</file>

<file path=ppt/slides/_rels/slide43.xml.rels><?xml version="1.0" encoding="UTF-8"?>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?>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4.tif"/></Relationships>
</file>

<file path=ppt/slides/_rels/slide45.xml.rels><?xml version="1.0" encoding="UTF-8"?>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6.jpg"/><Relationship Id="rId4" Type="http://schemas.openxmlformats.org/officeDocument/2006/relationships/image" Target="../media/image45.jpeg"/></Relationships>
</file>

<file path=ppt/slides/_rels/slide46.xml.rels><?xml version="1.0" encoding="UTF-8"?>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?>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48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6.xml"/></Relationships>
</file>

<file path=ppt/slides/_rels/slide49.xml.rels><?xml version="1.0" encoding="UTF-8"?><Relationships xmlns="http://schemas.openxmlformats.org/package/2006/relationships"><Relationship Id="rId3" Type="http://schemas.openxmlformats.org/officeDocument/2006/relationships/image" Target="../media/image33.t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0.xml.rels><?xml version="1.0" encoding="UTF-8"?><Relationships xmlns="http://schemas.openxmlformats.org/package/2006/relationships"><Relationship Id="rId3" Type="http://schemas.openxmlformats.org/officeDocument/2006/relationships/image" Target="../media/image33.ti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0507-B7E2-D2C8-4242-6E1F0B82DA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API-209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16BF8-CEF4-9938-4D48-779FD113B2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Class #1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6D0E1-9092-FCEB-5B75-5328A83FC6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 xml:space="preserve">Prof. Dan Levy | Harvard Kennedy School | Harvard University </a:t>
            </a:r>
          </a:p>
        </p:txBody>
      </p:sp>
    </p:spTree>
    <p:extLst>
      <p:ext uri="{BB962C8B-B14F-4D97-AF65-F5344CB8AC3E}">
        <p14:creationId xmlns:p14="http://schemas.microsoft.com/office/powerpoint/2010/main" val="3113155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603F5-E8B1-9ECC-8DB0-42FFF7184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21"/>
            <a:ext cx="6456196" cy="665195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045B-A9D2-415F-B064-77AA25C13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API-209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021CA16-699F-D15C-392B-72BFC4D69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1" y="1798638"/>
            <a:ext cx="6064831" cy="4167187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 xml:space="preserve">Please pick up </a:t>
            </a:r>
            <a:r>
              <a:rPr lang="en-GB" b="1" dirty="0"/>
              <a:t>syllabus</a:t>
            </a:r>
            <a:r>
              <a:rPr lang="en-GB" dirty="0"/>
              <a:t xml:space="preserve"> and </a:t>
            </a:r>
            <a:r>
              <a:rPr lang="en-GB" b="1" dirty="0"/>
              <a:t>handout</a:t>
            </a:r>
            <a:r>
              <a:rPr lang="en-GB" dirty="0"/>
              <a:t xml:space="preserve"> #1 as you come in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 xml:space="preserve">Please </a:t>
            </a:r>
            <a:r>
              <a:rPr lang="en-GB" b="1" dirty="0"/>
              <a:t>sit</a:t>
            </a:r>
            <a:r>
              <a:rPr lang="en-GB" dirty="0"/>
              <a:t xml:space="preserve"> as soon as possible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 xml:space="preserve">Please put your </a:t>
            </a:r>
            <a:r>
              <a:rPr lang="en-GB" b="1" dirty="0"/>
              <a:t>name card</a:t>
            </a:r>
            <a:r>
              <a:rPr lang="en-GB" dirty="0"/>
              <a:t xml:space="preserve"> on your desk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 xml:space="preserve">Please go to </a:t>
            </a:r>
            <a:r>
              <a:rPr lang="en-GB" b="1" dirty="0" err="1"/>
              <a:t>www.pollev.com</a:t>
            </a:r>
            <a:r>
              <a:rPr lang="en-GB" b="1"/>
              <a:t>/danlevy</a:t>
            </a:r>
            <a:r>
              <a:rPr lang="en-GB"/>
              <a:t xml:space="preserve">  and respond to question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 xml:space="preserve">Please put away your </a:t>
            </a:r>
            <a:r>
              <a:rPr lang="en-GB" b="1"/>
              <a:t>phone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750B928-C811-3CCA-2EF4-064DA2139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912" y="477527"/>
            <a:ext cx="5472855" cy="56388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ACD1EB-251E-AACE-0B1F-D20BA4E5BE1A}"/>
              </a:ext>
            </a:extLst>
          </p:cNvPr>
          <p:cNvCxnSpPr>
            <a:cxnSpLocks/>
          </p:cNvCxnSpPr>
          <p:nvPr/>
        </p:nvCxnSpPr>
        <p:spPr>
          <a:xfrm>
            <a:off x="6281531" y="0"/>
            <a:ext cx="0" cy="6453809"/>
          </a:xfrm>
          <a:prstGeom prst="line">
            <a:avLst/>
          </a:prstGeom>
          <a:ln w="38100">
            <a:solidFill>
              <a:srgbClr val="83BD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045B-A9D2-415F-B064-77AA25C13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Welcome to API-209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021CA16-699F-D15C-392B-72BFC4D69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1" y="1798638"/>
            <a:ext cx="11252199" cy="4167187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/>
              <a:t xml:space="preserve">Please pick up </a:t>
            </a:r>
            <a:r>
              <a:rPr lang="en-GB" b="1">
                <a:solidFill>
                  <a:srgbClr val="83BD5B"/>
                </a:solidFill>
              </a:rPr>
              <a:t>syllabus</a:t>
            </a:r>
            <a:r>
              <a:rPr lang="en-GB"/>
              <a:t xml:space="preserve"> and </a:t>
            </a:r>
            <a:r>
              <a:rPr lang="en-GB" b="1">
                <a:solidFill>
                  <a:srgbClr val="83BD5B"/>
                </a:solidFill>
              </a:rPr>
              <a:t>handout #1</a:t>
            </a:r>
            <a:r>
              <a:rPr lang="en-GB"/>
              <a:t xml:space="preserve"> as you come in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 xml:space="preserve">Please sit </a:t>
            </a:r>
            <a:r>
              <a:rPr lang="en-GB" b="1">
                <a:solidFill>
                  <a:srgbClr val="83BD5B"/>
                </a:solidFill>
              </a:rPr>
              <a:t>as soon as possible</a:t>
            </a:r>
          </a:p>
          <a:p>
            <a:pPr marL="1200150" lvl="1" indent="-514350"/>
            <a:r>
              <a:rPr lang="en-GB"/>
              <a:t>Non-MPA/IDs: Please choose a seat in the back of the room</a:t>
            </a:r>
            <a:endParaRPr lang="en-GB" b="1">
              <a:solidFill>
                <a:srgbClr val="FFC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/>
              <a:t xml:space="preserve">Please put </a:t>
            </a:r>
            <a:r>
              <a:rPr lang="en-GB" b="1">
                <a:solidFill>
                  <a:srgbClr val="83BD5B"/>
                </a:solidFill>
              </a:rPr>
              <a:t xml:space="preserve">your name card </a:t>
            </a:r>
            <a:r>
              <a:rPr lang="en-GB"/>
              <a:t xml:space="preserve">on your desk 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 xml:space="preserve">Please go to </a:t>
            </a:r>
            <a:r>
              <a:rPr lang="en-GB">
                <a:hlinkClick r:id="rId3"/>
              </a:rPr>
              <a:t>www.pollev.com/danlevy</a:t>
            </a:r>
            <a:r>
              <a:rPr lang="en-GB"/>
              <a:t xml:space="preserve"> and </a:t>
            </a:r>
            <a:r>
              <a:rPr lang="en-GB" b="1">
                <a:solidFill>
                  <a:srgbClr val="83BD5B"/>
                </a:solidFill>
              </a:rPr>
              <a:t>respond</a:t>
            </a:r>
            <a:r>
              <a:rPr lang="en-GB"/>
              <a:t xml:space="preserve"> to question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 xml:space="preserve">Please </a:t>
            </a:r>
            <a:r>
              <a:rPr lang="en-GB" b="1">
                <a:solidFill>
                  <a:srgbClr val="83BD5B"/>
                </a:solidFill>
              </a:rPr>
              <a:t xml:space="preserve">put away </a:t>
            </a:r>
            <a:r>
              <a:rPr lang="en-GB"/>
              <a:t>your phone</a:t>
            </a:r>
          </a:p>
        </p:txBody>
      </p:sp>
    </p:spTree>
    <p:extLst>
      <p:ext uri="{BB962C8B-B14F-4D97-AF65-F5344CB8AC3E}">
        <p14:creationId xmlns:p14="http://schemas.microsoft.com/office/powerpoint/2010/main" val="1904573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slide.url=https://www.polleverywhere.com/clickable_images/weOF0yESNcy9xW0WTaFiZ" descr="slide.url=https://www.polleverywhere.com/clickable_images/weOF0yESNcy9xW0WTaFi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299" y="206474"/>
            <a:ext cx="8593402" cy="64450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itle 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sz="4800">
                <a:latin typeface="Montserrat" panose="00000500000000000000" pitchFamily="2" charset="0"/>
                <a:ea typeface="+mn-ea"/>
                <a:cs typeface="+mn-cs"/>
              </a:rPr>
              <a:t>1 – Syllabus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481991"/>
                    <a:satOff val="11971"/>
                    <a:lumOff val="19007"/>
                  </a:schemeClr>
                </a:solidFill>
              </a:defRPr>
            </a:lvl1pPr>
          </a:lstStyle>
          <a:p>
            <a:r>
              <a:rPr>
                <a:solidFill>
                  <a:schemeClr val="tx1"/>
                </a:solidFill>
              </a:rPr>
              <a:t>Pedagogic Approach</a:t>
            </a:r>
          </a:p>
        </p:txBody>
      </p:sp>
      <p:grpSp>
        <p:nvGrpSpPr>
          <p:cNvPr id="222" name="Group"/>
          <p:cNvGrpSpPr/>
          <p:nvPr/>
        </p:nvGrpSpPr>
        <p:grpSpPr>
          <a:xfrm>
            <a:off x="2117720" y="1656881"/>
            <a:ext cx="7956560" cy="4179237"/>
            <a:chOff x="0" y="0"/>
            <a:chExt cx="11315994" cy="5943803"/>
          </a:xfrm>
        </p:grpSpPr>
        <p:pic>
          <p:nvPicPr>
            <p:cNvPr id="219" name="Picture 2" descr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917884" cy="59438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0" name="Content Placeholder 3" descr="Content Placeholder 3"/>
            <p:cNvPicPr>
              <a:picLocks noChangeAspect="1"/>
            </p:cNvPicPr>
            <p:nvPr/>
          </p:nvPicPr>
          <p:blipFill>
            <a:blip r:embed="rId4"/>
            <a:srcRect l="24397"/>
            <a:stretch>
              <a:fillRect/>
            </a:stretch>
          </p:blipFill>
          <p:spPr>
            <a:xfrm>
              <a:off x="7478255" y="2560491"/>
              <a:ext cx="3837740" cy="33833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1" name="Picture 2" descr="Pictur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78255" y="0"/>
              <a:ext cx="3837740" cy="256049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481991"/>
                    <a:satOff val="11971"/>
                    <a:lumOff val="19007"/>
                  </a:schemeClr>
                </a:solidFill>
              </a:defRPr>
            </a:lvl1pPr>
          </a:lstStyle>
          <a:p>
            <a:r>
              <a:rPr lang="en-GB">
                <a:solidFill>
                  <a:schemeClr val="tx1"/>
                </a:solidFill>
              </a:rPr>
              <a:t>Our Teaching Team</a:t>
            </a:r>
          </a:p>
        </p:txBody>
      </p:sp>
      <p:pic>
        <p:nvPicPr>
          <p:cNvPr id="227" name="2a02aef1-9119-4ee7-b67b-ff2c3a1a6d47.128x128_q85_crop-smart.jpg" descr="2a02aef1-9119-4ee7-b67b-ff2c3a1a6d47.128x128_q85_crop-sma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720" y="4259122"/>
            <a:ext cx="1143001" cy="1143001"/>
          </a:xfrm>
          <a:prstGeom prst="rect">
            <a:avLst/>
          </a:prstGeom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228" name="Dan Levy…"/>
          <p:cNvSpPr txBox="1"/>
          <p:nvPr/>
        </p:nvSpPr>
        <p:spPr>
          <a:xfrm>
            <a:off x="3209797" y="3309629"/>
            <a:ext cx="1098058" cy="656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defTabSz="412735">
              <a:defRPr sz="2700">
                <a:solidFill>
                  <a:srgbClr val="FFFFFF"/>
                </a:solidFill>
                <a:effectLst/>
                <a:latin typeface="Helvetica"/>
                <a:ea typeface="Helvetica"/>
                <a:cs typeface="Helvetica"/>
                <a:sym typeface="Helvetica"/>
              </a:defRPr>
            </a:pPr>
            <a:r>
              <a:rPr sz="1898">
                <a:solidFill>
                  <a:schemeClr val="tx1">
                    <a:lumMod val="75000"/>
                  </a:schemeClr>
                </a:solidFill>
              </a:rPr>
              <a:t>Dan Levy</a:t>
            </a:r>
          </a:p>
          <a:p>
            <a:pPr defTabSz="412735">
              <a:defRPr sz="2700">
                <a:solidFill>
                  <a:srgbClr val="000000"/>
                </a:solidFill>
                <a:effectLst/>
                <a:latin typeface="Helvetica"/>
                <a:ea typeface="Helvetica"/>
                <a:cs typeface="Helvetica"/>
                <a:sym typeface="Helvetica"/>
              </a:defRPr>
            </a:pPr>
            <a:r>
              <a:rPr sz="1898">
                <a:solidFill>
                  <a:schemeClr val="tx1">
                    <a:lumMod val="75000"/>
                  </a:schemeClr>
                </a:solidFill>
              </a:rPr>
              <a:t xml:space="preserve">Faculty </a:t>
            </a:r>
          </a:p>
        </p:txBody>
      </p:sp>
      <p:sp>
        <p:nvSpPr>
          <p:cNvPr id="229" name="Dom Valentino…"/>
          <p:cNvSpPr txBox="1"/>
          <p:nvPr/>
        </p:nvSpPr>
        <p:spPr>
          <a:xfrm>
            <a:off x="5191418" y="3309629"/>
            <a:ext cx="1814857" cy="656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defTabSz="412735">
              <a:defRPr sz="2700">
                <a:solidFill>
                  <a:srgbClr val="FFFFFF"/>
                </a:solidFill>
                <a:effectLst/>
                <a:latin typeface="Helvetica"/>
                <a:ea typeface="Helvetica"/>
                <a:cs typeface="Helvetica"/>
                <a:sym typeface="Helvetica"/>
              </a:defRPr>
            </a:pPr>
            <a:r>
              <a:rPr sz="1898">
                <a:solidFill>
                  <a:schemeClr val="tx1">
                    <a:lumMod val="75000"/>
                  </a:schemeClr>
                </a:solidFill>
              </a:rPr>
              <a:t>Dom Valentino</a:t>
            </a:r>
          </a:p>
          <a:p>
            <a:pPr defTabSz="412735">
              <a:defRPr sz="2700">
                <a:solidFill>
                  <a:srgbClr val="FFFFFF"/>
                </a:solidFill>
                <a:effectLst/>
                <a:latin typeface="Helvetica"/>
                <a:ea typeface="Helvetica"/>
                <a:cs typeface="Helvetica"/>
                <a:sym typeface="Helvetica"/>
              </a:defRPr>
            </a:pPr>
            <a:r>
              <a:rPr sz="1898">
                <a:solidFill>
                  <a:schemeClr val="tx1">
                    <a:lumMod val="75000"/>
                  </a:schemeClr>
                </a:solidFill>
              </a:rPr>
              <a:t>Teaching Fellow</a:t>
            </a:r>
          </a:p>
        </p:txBody>
      </p:sp>
      <p:sp>
        <p:nvSpPr>
          <p:cNvPr id="230" name="Victoria Barnum…"/>
          <p:cNvSpPr txBox="1"/>
          <p:nvPr/>
        </p:nvSpPr>
        <p:spPr>
          <a:xfrm>
            <a:off x="7488013" y="3313008"/>
            <a:ext cx="1895776" cy="656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defTabSz="412735">
              <a:defRPr sz="2700">
                <a:solidFill>
                  <a:srgbClr val="FFFFFF"/>
                </a:solidFill>
                <a:effectLst/>
                <a:latin typeface="Helvetica"/>
                <a:ea typeface="Helvetica"/>
                <a:cs typeface="Helvetica"/>
                <a:sym typeface="Helvetica"/>
              </a:defRPr>
            </a:pPr>
            <a:r>
              <a:rPr sz="1898">
                <a:solidFill>
                  <a:schemeClr val="tx1">
                    <a:lumMod val="75000"/>
                  </a:schemeClr>
                </a:solidFill>
              </a:rPr>
              <a:t>Victoria Barnum</a:t>
            </a:r>
          </a:p>
          <a:p>
            <a:pPr defTabSz="412735">
              <a:defRPr sz="2700">
                <a:solidFill>
                  <a:srgbClr val="FFFFFF"/>
                </a:solidFill>
                <a:effectLst/>
                <a:latin typeface="Helvetica"/>
                <a:ea typeface="Helvetica"/>
                <a:cs typeface="Helvetica"/>
                <a:sym typeface="Helvetica"/>
              </a:defRPr>
            </a:pPr>
            <a:r>
              <a:rPr sz="1898">
                <a:solidFill>
                  <a:schemeClr val="tx1">
                    <a:lumMod val="75000"/>
                  </a:schemeClr>
                </a:solidFill>
              </a:rPr>
              <a:t>Faculty Assistant</a:t>
            </a:r>
          </a:p>
        </p:txBody>
      </p:sp>
      <p:sp>
        <p:nvSpPr>
          <p:cNvPr id="231" name="Callan Corcoran…"/>
          <p:cNvSpPr txBox="1"/>
          <p:nvPr/>
        </p:nvSpPr>
        <p:spPr>
          <a:xfrm>
            <a:off x="5151215" y="5507585"/>
            <a:ext cx="1895776" cy="656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defTabSz="412735">
              <a:defRPr sz="2700">
                <a:solidFill>
                  <a:srgbClr val="FFFFFF"/>
                </a:solidFill>
                <a:effectLst/>
                <a:latin typeface="Helvetica"/>
                <a:ea typeface="Helvetica"/>
                <a:cs typeface="Helvetica"/>
                <a:sym typeface="Helvetica"/>
              </a:defRPr>
            </a:pPr>
            <a:r>
              <a:rPr sz="1898">
                <a:solidFill>
                  <a:schemeClr val="tx1">
                    <a:lumMod val="75000"/>
                  </a:schemeClr>
                </a:solidFill>
              </a:rPr>
              <a:t>Callan Corcoran</a:t>
            </a:r>
          </a:p>
          <a:p>
            <a:pPr defTabSz="412735">
              <a:defRPr sz="2700">
                <a:solidFill>
                  <a:srgbClr val="FFFFFF"/>
                </a:solidFill>
                <a:effectLst/>
                <a:latin typeface="Helvetica"/>
                <a:ea typeface="Helvetica"/>
                <a:cs typeface="Helvetica"/>
                <a:sym typeface="Helvetica"/>
              </a:defRPr>
            </a:pPr>
            <a:r>
              <a:rPr sz="1898">
                <a:solidFill>
                  <a:schemeClr val="tx1">
                    <a:lumMod val="75000"/>
                  </a:schemeClr>
                </a:solidFill>
              </a:rPr>
              <a:t>Course Assistant</a:t>
            </a:r>
          </a:p>
        </p:txBody>
      </p:sp>
      <p:sp>
        <p:nvSpPr>
          <p:cNvPr id="232" name="Angela Perez…"/>
          <p:cNvSpPr txBox="1"/>
          <p:nvPr/>
        </p:nvSpPr>
        <p:spPr>
          <a:xfrm>
            <a:off x="2814475" y="5507585"/>
            <a:ext cx="1895776" cy="656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defTabSz="412735">
              <a:defRPr sz="2700">
                <a:solidFill>
                  <a:srgbClr val="FFFFFF"/>
                </a:solidFill>
                <a:effectLst/>
                <a:latin typeface="Helvetica"/>
                <a:ea typeface="Helvetica"/>
                <a:cs typeface="Helvetica"/>
                <a:sym typeface="Helvetica"/>
              </a:defRPr>
            </a:pPr>
            <a:r>
              <a:rPr sz="1898">
                <a:solidFill>
                  <a:schemeClr val="tx1">
                    <a:lumMod val="75000"/>
                  </a:schemeClr>
                </a:solidFill>
              </a:rPr>
              <a:t>Angela Perez</a:t>
            </a:r>
          </a:p>
          <a:p>
            <a:pPr defTabSz="412735">
              <a:defRPr sz="2700">
                <a:solidFill>
                  <a:srgbClr val="FFFFFF"/>
                </a:solidFill>
                <a:effectLst/>
                <a:latin typeface="Helvetica"/>
                <a:ea typeface="Helvetica"/>
                <a:cs typeface="Helvetica"/>
                <a:sym typeface="Helvetica"/>
              </a:defRPr>
            </a:pPr>
            <a:r>
              <a:rPr sz="1898">
                <a:solidFill>
                  <a:schemeClr val="tx1">
                    <a:lumMod val="75000"/>
                  </a:schemeClr>
                </a:solidFill>
              </a:rPr>
              <a:t>Course Assistant</a:t>
            </a:r>
          </a:p>
        </p:txBody>
      </p:sp>
      <p:sp>
        <p:nvSpPr>
          <p:cNvPr id="233" name="Shreya Dubey…"/>
          <p:cNvSpPr txBox="1"/>
          <p:nvPr/>
        </p:nvSpPr>
        <p:spPr>
          <a:xfrm>
            <a:off x="7487954" y="5507585"/>
            <a:ext cx="1895776" cy="656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defTabSz="412735">
              <a:defRPr sz="2700">
                <a:solidFill>
                  <a:srgbClr val="FFFFFF"/>
                </a:solidFill>
                <a:effectLst/>
                <a:latin typeface="Helvetica"/>
                <a:ea typeface="Helvetica"/>
                <a:cs typeface="Helvetica"/>
                <a:sym typeface="Helvetica"/>
              </a:defRPr>
            </a:pPr>
            <a:r>
              <a:rPr sz="1898">
                <a:solidFill>
                  <a:schemeClr val="tx1">
                    <a:lumMod val="75000"/>
                  </a:schemeClr>
                </a:solidFill>
              </a:rPr>
              <a:t>Shreya Dubey</a:t>
            </a:r>
          </a:p>
          <a:p>
            <a:pPr defTabSz="412735">
              <a:defRPr sz="2700">
                <a:solidFill>
                  <a:srgbClr val="FFFFFF"/>
                </a:solidFill>
                <a:effectLst/>
                <a:latin typeface="Helvetica"/>
                <a:ea typeface="Helvetica"/>
                <a:cs typeface="Helvetica"/>
                <a:sym typeface="Helvetica"/>
              </a:defRPr>
            </a:pPr>
            <a:r>
              <a:rPr sz="1898">
                <a:solidFill>
                  <a:schemeClr val="tx1">
                    <a:lumMod val="75000"/>
                  </a:schemeClr>
                </a:solidFill>
              </a:rPr>
              <a:t>Course Assistant</a:t>
            </a:r>
          </a:p>
        </p:txBody>
      </p:sp>
      <p:pic>
        <p:nvPicPr>
          <p:cNvPr id="234" name="IMG_5093 (1) (1).jpg" descr="IMG_5093 (1) (1)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510" y="1816178"/>
            <a:ext cx="1152459" cy="1351005"/>
          </a:xfrm>
          <a:prstGeom prst="rect">
            <a:avLst/>
          </a:prstGeom>
          <a:ln w="12700">
            <a:miter lim="400000"/>
          </a:ln>
        </p:spPr>
      </p:pic>
      <p:pic>
        <p:nvPicPr>
          <p:cNvPr id="235" name="faculty_levy_dan_ms63_002.png" descr="faculty_levy_dan_ms63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164" y="1822933"/>
            <a:ext cx="1258195" cy="1337494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a278b66c-ed19-44be-8ab9-365f19841255.jpg.128x128_q85_crop-smart.jpg" descr="a278b66c-ed19-44be-8ab9-365f19841255.jpg.128x128_q85_crop-smar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498" y="4309382"/>
            <a:ext cx="1143001" cy="1143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cf64cb39-c0e8-41b6-bb9b-949fcb5d41e2.jpeg.128x128_q85_crop-smart.jpg" descr="cf64cb39-c0e8-41b6-bb9b-949fcb5d41e2.jpeg.128x128_q85_crop-smar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1239" y="4309382"/>
            <a:ext cx="1143001" cy="1143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5252" y="1822933"/>
            <a:ext cx="1337494" cy="13374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481991"/>
                    <a:satOff val="11971"/>
                    <a:lumOff val="19007"/>
                  </a:schemeClr>
                </a:solidFill>
              </a:defRPr>
            </a:lvl1pPr>
          </a:lstStyle>
          <a:p>
            <a:r>
              <a:rPr>
                <a:solidFill>
                  <a:schemeClr val="tx1">
                    <a:lumMod val="75000"/>
                  </a:schemeClr>
                </a:solidFill>
              </a:rPr>
              <a:t>Expectations</a:t>
            </a:r>
          </a:p>
        </p:txBody>
      </p:sp>
      <p:pic>
        <p:nvPicPr>
          <p:cNvPr id="24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583" y="1572671"/>
            <a:ext cx="8137003" cy="4543656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481991"/>
                    <a:satOff val="11971"/>
                    <a:lumOff val="19007"/>
                  </a:schemeClr>
                </a:solidFill>
              </a:defRPr>
            </a:lvl1pPr>
          </a:lstStyle>
          <a:p>
            <a:r>
              <a:rPr>
                <a:solidFill>
                  <a:schemeClr val="tx1">
                    <a:lumMod val="75000"/>
                  </a:schemeClr>
                </a:solidFill>
              </a:rPr>
              <a:t>Expectations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B067E4-CEB4-9CFE-238A-270020274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2800"/>
              <a:t>For every activity you undertake in this course, be:</a:t>
            </a:r>
          </a:p>
          <a:p>
            <a:pPr lvl="1" indent="-342900">
              <a:buSzPct val="100000"/>
              <a:buFont typeface="Courier New" panose="02070309020205020404" pitchFamily="49" charset="0"/>
              <a:buChar char="o"/>
            </a:pPr>
            <a:r>
              <a:rPr lang="en-GB">
                <a:solidFill>
                  <a:schemeClr val="tx1">
                    <a:lumMod val="75000"/>
                  </a:schemeClr>
                </a:solidFill>
              </a:rPr>
              <a:t xml:space="preserve"> </a:t>
            </a:r>
            <a:r>
              <a:rPr lang="en-GB" b="1">
                <a:solidFill>
                  <a:srgbClr val="83BD5B"/>
                </a:solidFill>
              </a:rPr>
              <a:t>P</a:t>
            </a:r>
            <a:r>
              <a:rPr lang="en-GB">
                <a:solidFill>
                  <a:schemeClr val="tx1">
                    <a:lumMod val="75000"/>
                  </a:schemeClr>
                </a:solidFill>
              </a:rPr>
              <a:t>repared</a:t>
            </a:r>
          </a:p>
          <a:p>
            <a:pPr lvl="1" indent="-342900">
              <a:buSzPct val="100000"/>
              <a:buFont typeface="Courier New" panose="02070309020205020404" pitchFamily="49" charset="0"/>
              <a:buChar char="o"/>
            </a:pPr>
            <a:r>
              <a:rPr lang="en-GB">
                <a:solidFill>
                  <a:schemeClr val="tx1">
                    <a:lumMod val="75000"/>
                  </a:schemeClr>
                </a:solidFill>
              </a:rPr>
              <a:t xml:space="preserve"> </a:t>
            </a:r>
            <a:r>
              <a:rPr lang="en-GB" b="1">
                <a:solidFill>
                  <a:srgbClr val="83BD5B"/>
                </a:solidFill>
              </a:rPr>
              <a:t>P</a:t>
            </a:r>
            <a:r>
              <a:rPr lang="en-GB">
                <a:solidFill>
                  <a:schemeClr val="tx1">
                    <a:lumMod val="75000"/>
                  </a:schemeClr>
                </a:solidFill>
              </a:rPr>
              <a:t>unctual</a:t>
            </a:r>
          </a:p>
          <a:p>
            <a:pPr lvl="1" indent="-342900">
              <a:buSzPct val="100000"/>
              <a:buFont typeface="Courier New" panose="02070309020205020404" pitchFamily="49" charset="0"/>
              <a:buChar char="o"/>
            </a:pPr>
            <a:r>
              <a:rPr lang="en-GB">
                <a:solidFill>
                  <a:schemeClr val="tx1">
                    <a:lumMod val="75000"/>
                  </a:schemeClr>
                </a:solidFill>
              </a:rPr>
              <a:t xml:space="preserve"> </a:t>
            </a:r>
            <a:r>
              <a:rPr lang="en-GB" b="1">
                <a:solidFill>
                  <a:srgbClr val="83BD5B"/>
                </a:solidFill>
              </a:rPr>
              <a:t>P</a:t>
            </a:r>
            <a:r>
              <a:rPr lang="en-GB">
                <a:solidFill>
                  <a:schemeClr val="tx1">
                    <a:lumMod val="75000"/>
                  </a:schemeClr>
                </a:solidFill>
              </a:rPr>
              <a:t>rofessional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481991"/>
                    <a:satOff val="11971"/>
                    <a:lumOff val="19007"/>
                  </a:schemeClr>
                </a:solidFill>
              </a:defRPr>
            </a:lvl1pPr>
          </a:lstStyle>
          <a:p>
            <a:r>
              <a:rPr>
                <a:solidFill>
                  <a:schemeClr val="tx1"/>
                </a:solidFill>
              </a:rPr>
              <a:t>Feedback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E50CBB-2ADB-EBF7-EE2F-09A3BD56A3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60729" indent="-160729">
              <a:lnSpc>
                <a:spcPct val="150000"/>
              </a:lnSpc>
              <a:buSzPct val="100000"/>
              <a:buChar char="•"/>
            </a:pPr>
            <a:r>
              <a:rPr lang="en-GB" sz="2800"/>
              <a:t xml:space="preserve"> Nothing will be perfect</a:t>
            </a:r>
          </a:p>
          <a:p>
            <a:pPr marL="160729" indent="-160729">
              <a:lnSpc>
                <a:spcPct val="150000"/>
              </a:lnSpc>
              <a:buSzPct val="100000"/>
              <a:buChar char="•"/>
            </a:pPr>
            <a:r>
              <a:rPr lang="en-GB" sz="2800"/>
              <a:t xml:space="preserve"> We are all here to learn </a:t>
            </a:r>
          </a:p>
          <a:p>
            <a:pPr marL="160729" indent="-160729">
              <a:lnSpc>
                <a:spcPct val="150000"/>
              </a:lnSpc>
              <a:buSzPct val="100000"/>
              <a:buChar char="•"/>
            </a:pPr>
            <a:r>
              <a:rPr lang="en-GB" sz="2800"/>
              <a:t xml:space="preserve"> We are partners in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itle 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effectLst>
            <a:outerShdw blurRad="25400" dist="12700" dir="5400000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>
              <a:defRPr b="0"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>
                <a:latin typeface="+mn-lt"/>
              </a:rPr>
              <a:t>2 – The Big Picture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4206AD-5DEC-F798-B5AC-6495451916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33" y="1783682"/>
            <a:ext cx="7200734" cy="433264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948C83-B6E3-AED5-9A6A-B610D3AB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 xml:space="preserve">1 - </a:t>
            </a:r>
            <a:r>
              <a:rPr lang="en-US" sz="4000" dirty="0">
                <a:solidFill>
                  <a:srgbClr val="83BD5B"/>
                </a:solidFill>
              </a:rPr>
              <a:t>Descriptive</a:t>
            </a:r>
            <a:r>
              <a:rPr lang="en-US" sz="4000" dirty="0"/>
              <a:t xml:space="preserve"> Use: Poverty in Peru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003" y="1841302"/>
            <a:ext cx="6355735" cy="3824213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" name="a18cbca3-62f8-4dbd-8cb5-bd8ecd9590f4.jpg.128x128_q85_crop-smart.jpg" descr="a18cbca3-62f8-4dbd-8cb5-bd8ecd9590f4.jpg.128x128_q85_crop-sma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400" y="2164203"/>
            <a:ext cx="2102997" cy="2102997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D9627F6-273D-EE1C-B90B-0D9EE6E5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 xml:space="preserve">1 - </a:t>
            </a:r>
            <a:r>
              <a:rPr lang="en-US" sz="3600" dirty="0">
                <a:solidFill>
                  <a:srgbClr val="83BD5B"/>
                </a:solidFill>
              </a:rPr>
              <a:t>Descriptive</a:t>
            </a:r>
            <a:r>
              <a:rPr lang="en-US" sz="3600" dirty="0"/>
              <a:t xml:space="preserve"> Use: Poverty in Peru</a:t>
            </a: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8D112CE6-5583-8132-E264-45C5D48993A1}"/>
              </a:ext>
            </a:extLst>
          </p:cNvPr>
          <p:cNvSpPr txBox="1">
            <a:spLocks/>
          </p:cNvSpPr>
          <p:nvPr/>
        </p:nvSpPr>
        <p:spPr>
          <a:xfrm>
            <a:off x="8351458" y="4597730"/>
            <a:ext cx="2722880" cy="728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 kern="1200">
                <a:solidFill>
                  <a:schemeClr val="tx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s-ES" sz="2000"/>
              <a:t>Sara Wong Becerra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37" y="1691345"/>
            <a:ext cx="7651254" cy="4253766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0D1AF7-0A02-55EA-7A43-E40BDF138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 xml:space="preserve">1 - </a:t>
            </a:r>
            <a:r>
              <a:rPr lang="en-US" sz="3600" dirty="0">
                <a:solidFill>
                  <a:srgbClr val="83BD5B"/>
                </a:solidFill>
              </a:rPr>
              <a:t>Descriptive</a:t>
            </a:r>
            <a:r>
              <a:rPr lang="en-US" sz="3600" dirty="0"/>
              <a:t xml:space="preserve"> Use: Poverty in Peru</a:t>
            </a:r>
          </a:p>
        </p:txBody>
      </p:sp>
      <p:pic>
        <p:nvPicPr>
          <p:cNvPr id="3" name="a18cbca3-62f8-4dbd-8cb5-bd8ecd9590f4.jpg.128x128_q85_crop-smart.jpg" descr="a18cbca3-62f8-4dbd-8cb5-bd8ecd9590f4.jpg.128x128_q85_crop-smart.jpg">
            <a:extLst>
              <a:ext uri="{FF2B5EF4-FFF2-40B4-BE49-F238E27FC236}">
                <a16:creationId xmlns:a16="http://schemas.microsoft.com/office/drawing/2014/main" id="{627ADB6E-A196-53BA-9B40-8D8540AAE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484" y="1691346"/>
            <a:ext cx="1767180" cy="176718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59228198-76C7-62E3-BE8B-98915A9D12E5}"/>
              </a:ext>
            </a:extLst>
          </p:cNvPr>
          <p:cNvSpPr txBox="1">
            <a:spLocks/>
          </p:cNvSpPr>
          <p:nvPr/>
        </p:nvSpPr>
        <p:spPr>
          <a:xfrm>
            <a:off x="9174541" y="3458526"/>
            <a:ext cx="2722880" cy="728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 kern="1200">
                <a:solidFill>
                  <a:schemeClr val="tx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s-ES" sz="2000" dirty="0"/>
              <a:t>Sara Wong Becerra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"/>
          <p:cNvSpPr/>
          <p:nvPr/>
        </p:nvSpPr>
        <p:spPr>
          <a:xfrm>
            <a:off x="4323457" y="4438055"/>
            <a:ext cx="1454231" cy="28503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B5DE6-4C7A-E622-347D-28CDCA19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 xml:space="preserve">2 – </a:t>
            </a:r>
            <a:r>
              <a:rPr lang="en-GB">
                <a:solidFill>
                  <a:srgbClr val="83BD5B"/>
                </a:solidFill>
              </a:rPr>
              <a:t>Causal</a:t>
            </a:r>
            <a:r>
              <a:rPr lang="en-GB"/>
              <a:t xml:space="preserve"> Use: Effect of income shocks in India</a:t>
            </a:r>
            <a:endParaRPr lang="en-US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7BCA9A19-8415-C185-0923-00ECDBB54453}"/>
              </a:ext>
            </a:extLst>
          </p:cNvPr>
          <p:cNvSpPr/>
          <p:nvPr/>
        </p:nvSpPr>
        <p:spPr>
          <a:xfrm>
            <a:off x="5050572" y="3624970"/>
            <a:ext cx="2068240" cy="4053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</a:defRPr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3F6088-60F2-DE84-6149-E31578D5CE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51"/>
          <a:stretch/>
        </p:blipFill>
        <p:spPr>
          <a:xfrm>
            <a:off x="604520" y="1807758"/>
            <a:ext cx="9185239" cy="4039808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pic>
        <p:nvPicPr>
          <p:cNvPr id="6" name="968ded5a-f085-46c1-bf05-836a650201c3.jpg.128x128_q85_crop-smart.jpg" descr="968ded5a-f085-46c1-bf05-836a650201c3.jpg.128x128_q85_crop-smart.jpg">
            <a:extLst>
              <a:ext uri="{FF2B5EF4-FFF2-40B4-BE49-F238E27FC236}">
                <a16:creationId xmlns:a16="http://schemas.microsoft.com/office/drawing/2014/main" id="{C320A87A-7A55-EB4E-C6F8-ED9A49F9C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6532" y="1807758"/>
            <a:ext cx="1270948" cy="127094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BE3C6D53-CD01-DDD9-08FC-56C7167A54E1}"/>
              </a:ext>
            </a:extLst>
          </p:cNvPr>
          <p:cNvSpPr txBox="1">
            <a:spLocks/>
          </p:cNvSpPr>
          <p:nvPr/>
        </p:nvSpPr>
        <p:spPr>
          <a:xfrm>
            <a:off x="9590566" y="3078706"/>
            <a:ext cx="2722880" cy="728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 kern="1200">
                <a:solidFill>
                  <a:schemeClr val="tx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s-ES" sz="1800" dirty="0"/>
              <a:t xml:space="preserve">Ishaan </a:t>
            </a:r>
            <a:r>
              <a:rPr lang="es-ES" sz="1800" dirty="0" err="1"/>
              <a:t>Bansal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dvAuto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"/>
          <p:cNvSpPr/>
          <p:nvPr/>
        </p:nvSpPr>
        <p:spPr>
          <a:xfrm>
            <a:off x="4323457" y="4438055"/>
            <a:ext cx="1454231" cy="28503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B5DE6-4C7A-E622-347D-28CDCA19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 – Causal Use</a:t>
            </a:r>
            <a:endParaRPr lang="en-US"/>
          </a:p>
        </p:txBody>
      </p:sp>
      <p:pic>
        <p:nvPicPr>
          <p:cNvPr id="3" name="Cover page Ashoka Paper.pdf" descr="Cover page Ashoka Paper.pdf">
            <a:extLst>
              <a:ext uri="{FF2B5EF4-FFF2-40B4-BE49-F238E27FC236}">
                <a16:creationId xmlns:a16="http://schemas.microsoft.com/office/drawing/2014/main" id="{666E298D-07C0-A28A-0975-770365591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721" y="315308"/>
            <a:ext cx="4263181" cy="5517058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</p:pic>
      <p:sp>
        <p:nvSpPr>
          <p:cNvPr id="4" name="Rectangle">
            <a:extLst>
              <a:ext uri="{FF2B5EF4-FFF2-40B4-BE49-F238E27FC236}">
                <a16:creationId xmlns:a16="http://schemas.microsoft.com/office/drawing/2014/main" id="{7BCA9A19-8415-C185-0923-00ECDBB54453}"/>
              </a:ext>
            </a:extLst>
          </p:cNvPr>
          <p:cNvSpPr/>
          <p:nvPr/>
        </p:nvSpPr>
        <p:spPr>
          <a:xfrm>
            <a:off x="5050572" y="3624970"/>
            <a:ext cx="2068240" cy="4053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262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"/>
          <p:cNvSpPr/>
          <p:nvPr/>
        </p:nvSpPr>
        <p:spPr>
          <a:xfrm>
            <a:off x="4323457" y="4438055"/>
            <a:ext cx="1454231" cy="28503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B5DE6-4C7A-E622-347D-28CDCA19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 – Causal Use</a:t>
            </a:r>
            <a:endParaRPr lang="en-US"/>
          </a:p>
        </p:txBody>
      </p:sp>
      <p:pic>
        <p:nvPicPr>
          <p:cNvPr id="3" name="Cover page Ashoka Paper.pdf" descr="Cover page Ashoka Paper.pdf">
            <a:extLst>
              <a:ext uri="{FF2B5EF4-FFF2-40B4-BE49-F238E27FC236}">
                <a16:creationId xmlns:a16="http://schemas.microsoft.com/office/drawing/2014/main" id="{666E298D-07C0-A28A-0975-770365591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721" y="315308"/>
            <a:ext cx="4263181" cy="5517058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</p:pic>
      <p:pic>
        <p:nvPicPr>
          <p:cNvPr id="5" name="968ded5a-f085-46c1-bf05-836a650201c3.jpg.128x128_q85_crop-smart.jpg" descr="968ded5a-f085-46c1-bf05-836a650201c3.jpg.128x128_q85_crop-smart.jpg">
            <a:extLst>
              <a:ext uri="{FF2B5EF4-FFF2-40B4-BE49-F238E27FC236}">
                <a16:creationId xmlns:a16="http://schemas.microsoft.com/office/drawing/2014/main" id="{F38F3070-BC30-6D64-1AA7-2A157B035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6078" y="315308"/>
            <a:ext cx="2152666" cy="2152666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DDAD6D92-4840-3040-55CE-ACBCD5F470D6}"/>
              </a:ext>
            </a:extLst>
          </p:cNvPr>
          <p:cNvSpPr txBox="1">
            <a:spLocks/>
          </p:cNvSpPr>
          <p:nvPr/>
        </p:nvSpPr>
        <p:spPr>
          <a:xfrm>
            <a:off x="9270971" y="2521012"/>
            <a:ext cx="2722880" cy="728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 kern="1200">
                <a:solidFill>
                  <a:schemeClr val="tx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s-ES" sz="2000" dirty="0"/>
              <a:t xml:space="preserve">Ishaan </a:t>
            </a:r>
            <a:r>
              <a:rPr lang="es-ES" sz="2000" dirty="0" err="1"/>
              <a:t>Bansal</a:t>
            </a:r>
            <a:endParaRPr lang="en-US" sz="2000"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55F20D94-8098-B6B3-7F0E-7E1E32FA0522}"/>
              </a:ext>
            </a:extLst>
          </p:cNvPr>
          <p:cNvSpPr/>
          <p:nvPr/>
        </p:nvSpPr>
        <p:spPr>
          <a:xfrm>
            <a:off x="4908227" y="3759749"/>
            <a:ext cx="1668084" cy="285036"/>
          </a:xfrm>
          <a:prstGeom prst="rect">
            <a:avLst/>
          </a:prstGeom>
          <a:solidFill>
            <a:srgbClr val="FFFF00">
              <a:alpha val="47974"/>
            </a:srgb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6171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62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dvAuto="0"/>
      <p:bldP spid="6" grpId="0"/>
      <p:bldP spid="7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"/>
          <p:cNvSpPr/>
          <p:nvPr/>
        </p:nvSpPr>
        <p:spPr>
          <a:xfrm>
            <a:off x="4323457" y="4438055"/>
            <a:ext cx="1454231" cy="28503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B5DE6-4C7A-E622-347D-28CDCA19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 xml:space="preserve">3 – </a:t>
            </a:r>
            <a:r>
              <a:rPr lang="en-GB">
                <a:solidFill>
                  <a:srgbClr val="83BD5B"/>
                </a:solidFill>
              </a:rPr>
              <a:t>Predictive</a:t>
            </a:r>
            <a:r>
              <a:rPr lang="en-GB"/>
              <a:t xml:space="preserve"> Use: Banking indicators in Mexico</a:t>
            </a:r>
            <a:endParaRPr lang="en-US"/>
          </a:p>
        </p:txBody>
      </p:sp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337CE11-053B-3EB5-BA1A-29A92BB63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566" y="1683340"/>
            <a:ext cx="4804244" cy="4363121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</p:pic>
    </p:spTree>
    <p:extLst>
      <p:ext uri="{BB962C8B-B14F-4D97-AF65-F5344CB8AC3E}">
        <p14:creationId xmlns:p14="http://schemas.microsoft.com/office/powerpoint/2010/main" val="3264631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"/>
          <p:cNvSpPr/>
          <p:nvPr/>
        </p:nvSpPr>
        <p:spPr>
          <a:xfrm>
            <a:off x="4323457" y="4438055"/>
            <a:ext cx="1454231" cy="28503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B5DE6-4C7A-E622-347D-28CDCA19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 xml:space="preserve">3 – </a:t>
            </a:r>
            <a:r>
              <a:rPr lang="en-GB">
                <a:solidFill>
                  <a:srgbClr val="83BD5B"/>
                </a:solidFill>
              </a:rPr>
              <a:t>Predictive</a:t>
            </a:r>
            <a:r>
              <a:rPr lang="en-GB"/>
              <a:t xml:space="preserve"> Use: Banking indicators in Mexico</a:t>
            </a:r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B0A7AC83-F7F2-2C98-236B-4CB07EEF5852}"/>
              </a:ext>
            </a:extLst>
          </p:cNvPr>
          <p:cNvSpPr txBox="1">
            <a:spLocks/>
          </p:cNvSpPr>
          <p:nvPr/>
        </p:nvSpPr>
        <p:spPr>
          <a:xfrm>
            <a:off x="8961058" y="3869730"/>
            <a:ext cx="2722880" cy="728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 kern="1200">
                <a:solidFill>
                  <a:schemeClr val="tx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s-ES" sz="2000" dirty="0"/>
              <a:t>Alexa González</a:t>
            </a:r>
            <a:endParaRPr lang="en-US" sz="2000" dirty="0"/>
          </a:p>
        </p:txBody>
      </p:sp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337CE11-053B-3EB5-BA1A-29A92BB63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566" y="1683340"/>
            <a:ext cx="4804244" cy="4363121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</p:pic>
      <p:pic>
        <p:nvPicPr>
          <p:cNvPr id="6" name="a96a93cb-6b69-42c8-9016-ebc1bc7e96d0.jpg.128x128_q85_crop-smart.jpg" descr="a96a93cb-6b69-42c8-9016-ebc1bc7e96d0.jpg.128x128_q85_crop-smart.jpg">
            <a:extLst>
              <a:ext uri="{FF2B5EF4-FFF2-40B4-BE49-F238E27FC236}">
                <a16:creationId xmlns:a16="http://schemas.microsoft.com/office/drawing/2014/main" id="{B2E89426-4352-2B6F-E3EE-5042452CC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276" y="2260048"/>
            <a:ext cx="1456443" cy="145644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5830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itle 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effectLst>
            <a:outerShdw blurRad="25400" dist="12700" dir="5400000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>
              <a:defRPr b="0"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>
                <a:latin typeface="+mn-lt"/>
              </a:rPr>
              <a:t>3 – Probability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5F7EC1-26D4-7473-41E3-A27A5C15C5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hink about the 2016 U.S. Elec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rPr sz="3600"/>
              <a:t xml:space="preserve">Think about the 2016 U.S. </a:t>
            </a:r>
            <a:r>
              <a:rPr lang="en-US" sz="3600"/>
              <a:t xml:space="preserve">Presidential </a:t>
            </a:r>
            <a:r>
              <a:rPr sz="3600"/>
              <a:t>Elections</a:t>
            </a:r>
          </a:p>
        </p:txBody>
      </p:sp>
      <p:pic>
        <p:nvPicPr>
          <p:cNvPr id="29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214" y="1615345"/>
            <a:ext cx="6551571" cy="45009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slide.url=https://www.polleverywhere.com/multiple_choice_polls/BatGFJq9sOl863zOspGXr?display_state=instructions&amp;activity_state=opened&amp;state=opened&amp;flow=Engagement&amp;onscreen=persist" descr="slide.url=https://www.polleverywhere.com/multiple_choice_polls/BatGFJq9sOl863zOspGXr?display_state=instructions&amp;activity_state=opened&amp;state=opened&amp;flow=Engagement&amp;onscreen=pers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297" y="44648"/>
            <a:ext cx="8965406" cy="67240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slide.url=https://www.polleverywhere.com/multiple_choice_polls/BatGFJq9sOl863zOspGXr?display_state=chart&amp;activity_state=opened&amp;state=opened&amp;flow=Engagement&amp;onscreen=persist" descr="slide.url=https://www.polleverywhere.com/multiple_choice_polls/BatGFJq9sOl863zOspGXr?display_state=chart&amp;activity_state=opened&amp;state=opened&amp;flow=Engagement&amp;onscreen=pers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297" y="44648"/>
            <a:ext cx="8965406" cy="67240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were we surprised?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84542A-F3EA-7248-AD61-15B55A1067AD}"/>
              </a:ext>
            </a:extLst>
          </p:cNvPr>
          <p:cNvPicPr>
            <a:picLocks noGrp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743397" y="1896678"/>
            <a:ext cx="10844083" cy="34996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0AAEFA-4A30-6447-A823-107B2EBC25C5}"/>
              </a:ext>
            </a:extLst>
          </p:cNvPr>
          <p:cNvSpPr txBox="1"/>
          <p:nvPr/>
        </p:nvSpPr>
        <p:spPr>
          <a:xfrm>
            <a:off x="2043953" y="5907728"/>
            <a:ext cx="6804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 xml:space="preserve">Source: </a:t>
            </a:r>
            <a:r>
              <a:rPr lang="en-US" sz="1000" u="sng" dirty="0">
                <a:hlinkClick r:id="rId4"/>
              </a:rPr>
              <a:t>https://projects.fivethirtyeight.com/2016-election-forecast/</a:t>
            </a:r>
            <a:r>
              <a:rPr lang="en-US" sz="1000" dirty="0"/>
              <a:t xml:space="preserve"> </a:t>
            </a:r>
          </a:p>
          <a:p>
            <a:endParaRPr lang="en-US" sz="10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AEE56F-C809-5B40-829C-FCA88D7D2560}"/>
              </a:ext>
            </a:extLst>
          </p:cNvPr>
          <p:cNvSpPr/>
          <p:nvPr/>
        </p:nvSpPr>
        <p:spPr>
          <a:xfrm>
            <a:off x="8071225" y="4140947"/>
            <a:ext cx="1111623" cy="914400"/>
          </a:xfrm>
          <a:prstGeom prst="ellipse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E083DA-BB25-E040-B56F-73755DD33FA5}"/>
              </a:ext>
            </a:extLst>
          </p:cNvPr>
          <p:cNvSpPr/>
          <p:nvPr/>
        </p:nvSpPr>
        <p:spPr>
          <a:xfrm>
            <a:off x="951752" y="2004737"/>
            <a:ext cx="1893047" cy="624163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2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ock"/>
          <p:cNvSpPr txBox="1">
            <a:spLocks noGrp="1"/>
          </p:cNvSpPr>
          <p:nvPr>
            <p:ph type="title"/>
          </p:nvPr>
        </p:nvSpPr>
        <p:spPr>
          <a:xfrm>
            <a:off x="586409" y="944216"/>
            <a:ext cx="7541038" cy="5431184"/>
          </a:xfrm>
          <a:prstGeom prst="rect">
            <a:avLst/>
          </a:prstGeom>
        </p:spPr>
        <p:txBody>
          <a:bodyPr>
            <a:normAutofit/>
          </a:bodyPr>
          <a:lstStyle>
            <a:lvl1pPr defTabSz="452007">
              <a:defRPr sz="7546"/>
            </a:lvl1pPr>
          </a:lstStyle>
          <a:p>
            <a:pPr>
              <a:lnSpc>
                <a:spcPts val="3680"/>
              </a:lnSpc>
              <a:defRPr>
                <a:effectLst/>
              </a:defRPr>
            </a:pPr>
            <a:r>
              <a:rPr lang="en-GB" sz="3600" dirty="0">
                <a:solidFill>
                  <a:srgbClr val="FFFF00"/>
                </a:solidFill>
              </a:rPr>
              <a:t>Shock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"In 2016, I had a fervent belief that there would be no way that Donald Trump would get elected as President of USA. Looking back, I think I was definitely surrounded by an echo-chamber of like-minded friends with similar political views, so the night when I watched the election results, I remember being absolutely shocked that Hillary Clinton did not get elected."</a:t>
            </a:r>
          </a:p>
        </p:txBody>
      </p:sp>
      <p:pic>
        <p:nvPicPr>
          <p:cNvPr id="300" name="286fdcf0-0f3e-4639-944b-dc72bf2cd87b.jpg.128x128_q85_crop-smart.jpg" descr="286fdcf0-0f3e-4639-944b-dc72bf2cd87b.jpg.128x128_q85_crop-smart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548" b="548"/>
          <a:stretch/>
        </p:blipFill>
        <p:spPr>
          <a:xfrm>
            <a:off x="9103689" y="2799116"/>
            <a:ext cx="1740453" cy="1721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53F5CA-447E-8328-1EED-E4639FD9F202}"/>
              </a:ext>
            </a:extLst>
          </p:cNvPr>
          <p:cNvSpPr txBox="1"/>
          <p:nvPr/>
        </p:nvSpPr>
        <p:spPr>
          <a:xfrm>
            <a:off x="8938865" y="4699000"/>
            <a:ext cx="207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Nidhi Rao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itle 4"/>
          <p:cNvSpPr txBox="1">
            <a:spLocks noGrp="1"/>
          </p:cNvSpPr>
          <p:nvPr>
            <p:ph type="ctrTitle"/>
          </p:nvPr>
        </p:nvSpPr>
        <p:spPr>
          <a:xfrm>
            <a:off x="1523998" y="1070113"/>
            <a:ext cx="9144003" cy="3230217"/>
          </a:xfrm>
          <a:prstGeom prst="rect">
            <a:avLst/>
          </a:prstGeom>
        </p:spPr>
        <p:txBody>
          <a:bodyPr>
            <a:normAutofit/>
          </a:bodyPr>
          <a:lstStyle>
            <a:lvl1pPr defTabSz="514095">
              <a:defRPr sz="5632">
                <a:solidFill>
                  <a:schemeClr val="accent4">
                    <a:hueOff val="481991"/>
                    <a:satOff val="11971"/>
                    <a:lumOff val="19007"/>
                  </a:schemeClr>
                </a:solidFill>
                <a:effectLst>
                  <a:outerShdw blurRad="44704" dist="22352" dir="5400000" rotWithShape="0">
                    <a:srgbClr val="000000"/>
                  </a:outerShdw>
                </a:effectLst>
              </a:defRPr>
            </a:lvl1pPr>
          </a:lstStyle>
          <a:p>
            <a:pPr algn="ctr"/>
            <a:r>
              <a:rPr dirty="0"/>
              <a:t>Thinking probabilistically about the world</a:t>
            </a:r>
          </a:p>
        </p:txBody>
      </p:sp>
      <p:grpSp>
        <p:nvGrpSpPr>
          <p:cNvPr id="309" name="Group"/>
          <p:cNvGrpSpPr/>
          <p:nvPr/>
        </p:nvGrpSpPr>
        <p:grpSpPr>
          <a:xfrm>
            <a:off x="1524001" y="4363856"/>
            <a:ext cx="9144001" cy="2286001"/>
            <a:chOff x="0" y="0"/>
            <a:chExt cx="13004800" cy="3251200"/>
          </a:xfrm>
        </p:grpSpPr>
        <p:pic>
          <p:nvPicPr>
            <p:cNvPr id="306" name="Picture 1" descr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4933" y="0"/>
              <a:ext cx="4334935" cy="3251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7" name="Picture 5" descr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334934" cy="3251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8" name="Picture 7" descr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69866" y="0"/>
              <a:ext cx="4334935" cy="3251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13" name="Group"/>
          <p:cNvGrpSpPr/>
          <p:nvPr/>
        </p:nvGrpSpPr>
        <p:grpSpPr>
          <a:xfrm>
            <a:off x="1523999" y="208143"/>
            <a:ext cx="9144001" cy="2286001"/>
            <a:chOff x="0" y="0"/>
            <a:chExt cx="13004800" cy="3251200"/>
          </a:xfrm>
        </p:grpSpPr>
        <p:pic>
          <p:nvPicPr>
            <p:cNvPr id="310" name="Picture 1" descr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4933" y="0"/>
              <a:ext cx="4334935" cy="3251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1" name="Picture 5" descr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334934" cy="3251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2" name="Picture 7" descr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8669866" y="0"/>
              <a:ext cx="4334935" cy="3251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A3557-62F5-C070-F976-A8BB2278E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520" y="2650100"/>
            <a:ext cx="10982960" cy="1557800"/>
          </a:xfrm>
        </p:spPr>
        <p:txBody>
          <a:bodyPr/>
          <a:lstStyle/>
          <a:p>
            <a:r>
              <a:rPr lang="en-GB" sz="2800"/>
              <a:t>Principle #1</a:t>
            </a:r>
            <a:br>
              <a:rPr lang="en-GB"/>
            </a:br>
            <a:r>
              <a:rPr lang="en-GB"/>
              <a:t>The world is much more uncertain than you think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5046-2C0A-E42D-4D19-55F1D3AAF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Keys</a:t>
            </a:r>
            <a:r>
              <a:rPr lang="es-ES"/>
              <a:t xml:space="preserve"> </a:t>
            </a:r>
            <a:r>
              <a:rPr lang="es-ES" err="1"/>
              <a:t>to</a:t>
            </a:r>
            <a:r>
              <a:rPr lang="es-ES"/>
              <a:t xml:space="preserve"> </a:t>
            </a:r>
            <a:r>
              <a:rPr lang="es-ES" err="1"/>
              <a:t>Silver’s</a:t>
            </a:r>
            <a:r>
              <a:rPr lang="es-ES"/>
              <a:t xml:space="preserve"> </a:t>
            </a:r>
            <a:r>
              <a:rPr lang="es-ES" err="1"/>
              <a:t>Prediction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A93F7-77BC-16E9-2CBE-A424262D71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553985" lvl="1" indent="-268245">
              <a:lnSpc>
                <a:spcPct val="150000"/>
              </a:lnSpc>
              <a:spcBef>
                <a:spcPts val="1000"/>
              </a:spcBef>
              <a:defRPr sz="3400"/>
            </a:pPr>
            <a:r>
              <a:rPr lang="en-GB"/>
              <a:t>Clinton’s coalition was poorly configured for the Electoral College.</a:t>
            </a:r>
          </a:p>
          <a:p>
            <a:pPr marL="553985" lvl="1" indent="-268245">
              <a:lnSpc>
                <a:spcPct val="150000"/>
              </a:lnSpc>
              <a:spcBef>
                <a:spcPts val="1000"/>
              </a:spcBef>
              <a:defRPr sz="3400"/>
            </a:pPr>
            <a:r>
              <a:rPr lang="en-GB"/>
              <a:t>Large fraction of voters went into the final week of the campaign undecided</a:t>
            </a:r>
          </a:p>
          <a:p>
            <a:pPr marL="553985" lvl="1" indent="-268245">
              <a:lnSpc>
                <a:spcPct val="150000"/>
              </a:lnSpc>
              <a:spcBef>
                <a:spcPts val="1000"/>
              </a:spcBef>
              <a:defRPr sz="3400"/>
            </a:pPr>
            <a:r>
              <a:rPr lang="en-GB"/>
              <a:t>Polls were fairly volatile in 2016 (especially in final stretch)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FF6AE-3F1B-4C38-471F-37D509AEB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Prof. 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307788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it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473201">
              <a:defRPr sz="5184">
                <a:effectLst>
                  <a:outerShdw blurRad="41148" dist="20574" dir="5400000" rotWithShape="0">
                    <a:srgbClr val="000000"/>
                  </a:outerShdw>
                </a:effectLst>
              </a:defRPr>
            </a:lvl1pPr>
          </a:lstStyle>
          <a:p>
            <a:r>
              <a:rPr dirty="0"/>
              <a:t xml:space="preserve">How 538 </a:t>
            </a:r>
            <a:r>
              <a:rPr lang="en-US" dirty="0"/>
              <a:t>displays</a:t>
            </a:r>
            <a:r>
              <a:rPr dirty="0"/>
              <a:t xml:space="preserve"> forecasts</a:t>
            </a:r>
          </a:p>
        </p:txBody>
      </p:sp>
      <p:pic>
        <p:nvPicPr>
          <p:cNvPr id="323" name="Image" descr="Image"/>
          <p:cNvPicPr>
            <a:picLocks noChangeAspect="1"/>
          </p:cNvPicPr>
          <p:nvPr/>
        </p:nvPicPr>
        <p:blipFill>
          <a:blip r:embed="rId3"/>
          <a:srcRect l="22235" t="2371" r="927" b="4568"/>
          <a:stretch>
            <a:fillRect/>
          </a:stretch>
        </p:blipFill>
        <p:spPr>
          <a:xfrm>
            <a:off x="7313879" y="2637100"/>
            <a:ext cx="4273601" cy="3400422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Source: Fivethirtyeight. Accessed on Aug 31, 2020"/>
          <p:cNvSpPr txBox="1"/>
          <p:nvPr/>
        </p:nvSpPr>
        <p:spPr>
          <a:xfrm>
            <a:off x="7218553" y="6058634"/>
            <a:ext cx="4654614" cy="290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400"/>
            </a:lvl1pPr>
          </a:lstStyle>
          <a:p>
            <a:r>
              <a:rPr sz="1400" dirty="0"/>
              <a:t>Source: Fivethirtyeight. Accessed on Aug 31, 20</a:t>
            </a:r>
            <a:r>
              <a:rPr sz="1400" b="1" dirty="0"/>
              <a:t>20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E714D65-4BDD-7845-D88E-A5A5BEF7B5B4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l="22658" t="24189" r="14100"/>
          <a:stretch/>
        </p:blipFill>
        <p:spPr>
          <a:xfrm>
            <a:off x="-1" y="2408175"/>
            <a:ext cx="6249787" cy="24178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B3A144-3499-1C1F-8FD4-2839284E9108}"/>
              </a:ext>
            </a:extLst>
          </p:cNvPr>
          <p:cNvSpPr/>
          <p:nvPr/>
        </p:nvSpPr>
        <p:spPr>
          <a:xfrm>
            <a:off x="285686" y="1816100"/>
            <a:ext cx="5964093" cy="762000"/>
          </a:xfrm>
          <a:prstGeom prst="rect">
            <a:avLst/>
          </a:prstGeom>
          <a:solidFill>
            <a:srgbClr val="83BD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2016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BEA3AC-9F0D-505D-7760-770D34B4E604}"/>
              </a:ext>
            </a:extLst>
          </p:cNvPr>
          <p:cNvCxnSpPr>
            <a:cxnSpLocks/>
          </p:cNvCxnSpPr>
          <p:nvPr/>
        </p:nvCxnSpPr>
        <p:spPr>
          <a:xfrm>
            <a:off x="6268831" y="1816100"/>
            <a:ext cx="0" cy="4637709"/>
          </a:xfrm>
          <a:prstGeom prst="line">
            <a:avLst/>
          </a:prstGeom>
          <a:ln w="38100">
            <a:solidFill>
              <a:srgbClr val="83BD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5FD83D7-CC17-79E5-40AF-896F29CC6819}"/>
              </a:ext>
            </a:extLst>
          </p:cNvPr>
          <p:cNvSpPr/>
          <p:nvPr/>
        </p:nvSpPr>
        <p:spPr>
          <a:xfrm>
            <a:off x="6281524" y="1811063"/>
            <a:ext cx="5964093" cy="762000"/>
          </a:xfrm>
          <a:prstGeom prst="rect">
            <a:avLst/>
          </a:prstGeom>
          <a:solidFill>
            <a:srgbClr val="83BD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2020</a:t>
            </a:r>
          </a:p>
        </p:txBody>
      </p:sp>
      <p:sp>
        <p:nvSpPr>
          <p:cNvPr id="7" name="Source: Fivethirtyeight. Accessed on Aug 31, 2020">
            <a:extLst>
              <a:ext uri="{FF2B5EF4-FFF2-40B4-BE49-F238E27FC236}">
                <a16:creationId xmlns:a16="http://schemas.microsoft.com/office/drawing/2014/main" id="{1DFED186-7989-2CD6-1F7C-CBD5A8299365}"/>
              </a:ext>
            </a:extLst>
          </p:cNvPr>
          <p:cNvSpPr txBox="1"/>
          <p:nvPr/>
        </p:nvSpPr>
        <p:spPr>
          <a:xfrm>
            <a:off x="318833" y="5971191"/>
            <a:ext cx="4654614" cy="290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400"/>
            </a:lvl1pPr>
          </a:lstStyle>
          <a:p>
            <a:r>
              <a:rPr sz="1400" dirty="0"/>
              <a:t xml:space="preserve">Source: Fivethirtyeight. Accessed on </a:t>
            </a:r>
            <a:r>
              <a:rPr lang="en-US" sz="1400" dirty="0"/>
              <a:t>Nov 8</a:t>
            </a:r>
            <a:r>
              <a:rPr sz="1400" dirty="0"/>
              <a:t xml:space="preserve">, </a:t>
            </a:r>
            <a:r>
              <a:rPr lang="en-US" sz="1400" dirty="0"/>
              <a:t>20</a:t>
            </a:r>
            <a:r>
              <a:rPr lang="en-US" sz="1400" b="1" dirty="0"/>
              <a:t>16</a:t>
            </a:r>
            <a:endParaRPr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nimBg="1"/>
      <p:bldP spid="3" grpId="0" animBg="1"/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701" y="396159"/>
            <a:ext cx="9073662" cy="60656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slide.url=https://www.polleverywhere.com/multiple_choice_polls/hxq86CTskdTnLH0DVEUU9?display_state=instructions&amp;activity_state=opened&amp;state=opened&amp;flow=Engagement&amp;onscreen=persist" descr="slide.url=https://www.polleverywhere.com/multiple_choice_polls/hxq86CTskdTnLH0DVEUU9?display_state=instructions&amp;activity_state=opened&amp;state=opened&amp;flow=Engagement&amp;onscreen=pers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297" y="44648"/>
            <a:ext cx="8965406" cy="67240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slide.url=https://www.polleverywhere.com/multiple_choice_polls/hxq86CTskdTnLH0DVEUU9?display_state=chart&amp;activity_state=closed&amp;state=closed&amp;flow=Engagement&amp;onscreen=persist" descr="slide.url=https://www.polleverywhere.com/multiple_choice_polls/hxq86CTskdTnLH0DVEUU9?display_state=chart&amp;activity_state=closed&amp;state=closed&amp;flow=Engagement&amp;onscreen=pers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297" y="44648"/>
            <a:ext cx="8965406" cy="67240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0507-B7E2-D2C8-4242-6E1F0B82DA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API-209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16BF8-CEF4-9938-4D48-779FD113B2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Class #1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6D0E1-9092-FCEB-5B75-5328A83FC6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 xml:space="preserve">Prof. Dan Levy | Harvard Kennedy School | Harvard University </a:t>
            </a:r>
          </a:p>
        </p:txBody>
      </p:sp>
    </p:spTree>
    <p:extLst>
      <p:ext uri="{BB962C8B-B14F-4D97-AF65-F5344CB8AC3E}">
        <p14:creationId xmlns:p14="http://schemas.microsoft.com/office/powerpoint/2010/main" val="34344309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Answer based on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Answer based on probability theory</a:t>
            </a:r>
          </a:p>
        </p:txBody>
      </p:sp>
      <p:sp>
        <p:nvSpPr>
          <p:cNvPr id="344" name="41%"/>
          <p:cNvSpPr txBox="1"/>
          <p:nvPr/>
        </p:nvSpPr>
        <p:spPr>
          <a:xfrm>
            <a:off x="3754957" y="2187192"/>
            <a:ext cx="4143763" cy="2712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400">
                <a:solidFill>
                  <a:schemeClr val="accent4">
                    <a:hueOff val="481991"/>
                    <a:satOff val="11971"/>
                    <a:lumOff val="19007"/>
                  </a:schemeClr>
                </a:solidFill>
              </a:defRPr>
            </a:lvl1pPr>
          </a:lstStyle>
          <a:p>
            <a:r>
              <a:rPr sz="17156">
                <a:solidFill>
                  <a:schemeClr val="tx1"/>
                </a:solidFill>
              </a:rPr>
              <a:t>41%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t it righ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Got it right</a:t>
            </a:r>
            <a:r>
              <a:rPr lang="en-GB"/>
              <a:t>!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t it righ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Got it right</a:t>
            </a:r>
            <a:r>
              <a:rPr lang="en-GB"/>
              <a:t>!</a:t>
            </a:r>
            <a:endParaRPr/>
          </a:p>
        </p:txBody>
      </p:sp>
      <p:pic>
        <p:nvPicPr>
          <p:cNvPr id="349" name="200.gif" descr="200.gif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065996" y="2051775"/>
            <a:ext cx="5686665" cy="40619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Did you know about this puzzle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 sz="4800"/>
            </a:lvl1pPr>
          </a:lstStyle>
          <a:p>
            <a:r>
              <a:rPr sz="3730"/>
              <a:t>Did you know about this puzzle?</a:t>
            </a:r>
          </a:p>
        </p:txBody>
      </p:sp>
      <p:sp>
        <p:nvSpPr>
          <p:cNvPr id="352" name="Yes…"/>
          <p:cNvSpPr txBox="1"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anchor="t">
            <a:normAutofit/>
          </a:bodyPr>
          <a:lstStyle/>
          <a:p>
            <a:pPr marL="840411" indent="-840411">
              <a:lnSpc>
                <a:spcPct val="150000"/>
              </a:lnSpc>
              <a:buSzPct val="100000"/>
              <a:buAutoNum type="alphaUcPeriod"/>
              <a:defRPr sz="4800"/>
            </a:pPr>
            <a:r>
              <a:rPr sz="3800"/>
              <a:t>Yes</a:t>
            </a:r>
          </a:p>
          <a:p>
            <a:pPr marL="840411" indent="-840411">
              <a:lnSpc>
                <a:spcPct val="150000"/>
              </a:lnSpc>
              <a:buSzPct val="100000"/>
              <a:buAutoNum type="alphaUcPeriod"/>
              <a:defRPr sz="4800"/>
            </a:pPr>
            <a:r>
              <a:rPr sz="3800"/>
              <a:t>No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853F2-9F83-DA12-26F2-10CB4B5F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1985500"/>
            <a:ext cx="5224780" cy="1316500"/>
          </a:xfrm>
        </p:spPr>
        <p:txBody>
          <a:bodyPr anchor="ctr"/>
          <a:lstStyle/>
          <a:p>
            <a:r>
              <a:rPr lang="en-GB"/>
              <a:t>Answer based on probability theory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C790A-EFAE-1D57-AC78-CF6C618BD8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Prof. Dan Levy | Advanced Quantitative Methods (API-209) | Harvard Kennedy School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94F0D6-A4AB-FD1C-3E90-1C90C3BE084F}"/>
              </a:ext>
            </a:extLst>
          </p:cNvPr>
          <p:cNvSpPr txBox="1">
            <a:spLocks/>
          </p:cNvSpPr>
          <p:nvPr/>
        </p:nvSpPr>
        <p:spPr>
          <a:xfrm>
            <a:off x="7005320" y="1985500"/>
            <a:ext cx="5224780" cy="1316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 kern="1200">
                <a:solidFill>
                  <a:schemeClr val="tx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/>
              <a:t>Our intuition</a:t>
            </a:r>
            <a:endParaRPr lang="en-US"/>
          </a:p>
        </p:txBody>
      </p:sp>
      <p:sp>
        <p:nvSpPr>
          <p:cNvPr id="5" name="≠">
            <a:extLst>
              <a:ext uri="{FF2B5EF4-FFF2-40B4-BE49-F238E27FC236}">
                <a16:creationId xmlns:a16="http://schemas.microsoft.com/office/drawing/2014/main" id="{746538AB-05DC-1917-8E48-7086818F00A1}"/>
              </a:ext>
            </a:extLst>
          </p:cNvPr>
          <p:cNvSpPr txBox="1"/>
          <p:nvPr/>
        </p:nvSpPr>
        <p:spPr>
          <a:xfrm>
            <a:off x="5764913" y="1823012"/>
            <a:ext cx="83997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800">
                <a:solidFill>
                  <a:schemeClr val="accent4">
                    <a:hueOff val="481991"/>
                    <a:satOff val="11971"/>
                    <a:lumOff val="19007"/>
                  </a:schemeClr>
                </a:solidFill>
              </a:defRPr>
            </a:lvl1pPr>
          </a:lstStyle>
          <a:p>
            <a:r>
              <a:rPr sz="10000">
                <a:solidFill>
                  <a:schemeClr val="tx1"/>
                </a:solidFill>
              </a:rPr>
              <a:t>≠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CC2D4BA-8B96-DDBF-7965-00553E4FD215}"/>
              </a:ext>
            </a:extLst>
          </p:cNvPr>
          <p:cNvSpPr txBox="1">
            <a:spLocks/>
          </p:cNvSpPr>
          <p:nvPr/>
        </p:nvSpPr>
        <p:spPr>
          <a:xfrm>
            <a:off x="960120" y="4211175"/>
            <a:ext cx="10520680" cy="1316500"/>
          </a:xfrm>
          <a:prstGeom prst="rect">
            <a:avLst/>
          </a:prstGeom>
          <a:solidFill>
            <a:srgbClr val="83BD5B"/>
          </a:solidFill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733" b="1" kern="1200">
                <a:solidFill>
                  <a:schemeClr val="tx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GB">
                <a:solidFill>
                  <a:schemeClr val="accent2"/>
                </a:solidFill>
              </a:rPr>
              <a:t>Why?</a:t>
            </a:r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8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CB0A8-381E-40A5-C1BF-77BFFCB55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probability p that at least two people in a group of k people will have the same birthday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AC33D0-08EF-7C41-212D-3E91B7A55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Prof. Dan Levy | Advanced Quantitative Methods (API-209) | Harvard Kennedy School</a:t>
            </a:r>
          </a:p>
        </p:txBody>
      </p:sp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03FCEB4E-8927-69A4-DEA9-CDF2869C9C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7844813"/>
              </p:ext>
            </p:extLst>
          </p:nvPr>
        </p:nvGraphicFramePr>
        <p:xfrm>
          <a:off x="4976309" y="2092967"/>
          <a:ext cx="2239382" cy="4023360"/>
        </p:xfrm>
        <a:graphic>
          <a:graphicData uri="http://schemas.openxmlformats.org/drawingml/2006/table">
            <a:tbl>
              <a:tblPr/>
              <a:tblGrid>
                <a:gridCol w="975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881">
                <a:tc>
                  <a:txBody>
                    <a:bodyPr/>
                    <a:lstStyle/>
                    <a:p>
                      <a:pPr marL="182879" defTabSz="457200">
                        <a:defRPr sz="3700" i="1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k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879" defTabSz="457200">
                        <a:defRPr sz="3700" i="1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p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81"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5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0.027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81"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10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0.117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81"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15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0.253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81"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20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0.411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81"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22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0.476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81"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23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0.507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81"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25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0.569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81"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30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0.706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81"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40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0.891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81"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50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0.970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81"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60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879" defTabSz="457200">
                        <a:defRPr sz="3700">
                          <a:effectLst>
                            <a:outerShdw blurRad="25400" dist="25400" dir="5400000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sz="2200"/>
                        <a:t>0.994</a:t>
                      </a:r>
                    </a:p>
                  </a:txBody>
                  <a:tcPr marL="44648" marR="44648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3396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Common birthdays in this cla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sz="3733"/>
              <a:t>Common birthdays in this class</a:t>
            </a:r>
          </a:p>
        </p:txBody>
      </p:sp>
      <p:sp>
        <p:nvSpPr>
          <p:cNvPr id="363" name="10 common sets of birthdays!"/>
          <p:cNvSpPr txBox="1"/>
          <p:nvPr/>
        </p:nvSpPr>
        <p:spPr>
          <a:xfrm>
            <a:off x="5685692" y="3648435"/>
            <a:ext cx="5328383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chemeClr val="accent4">
                    <a:hueOff val="481991"/>
                    <a:satOff val="11971"/>
                    <a:lumOff val="19007"/>
                  </a:schemeClr>
                </a:solidFill>
              </a:defRPr>
            </a:lvl1pPr>
          </a:lstStyle>
          <a:p>
            <a:r>
              <a:rPr sz="2800">
                <a:solidFill>
                  <a:schemeClr val="tx1"/>
                </a:solidFill>
              </a:rPr>
              <a:t>10 common sets of birthdays!</a:t>
            </a:r>
          </a:p>
        </p:txBody>
      </p:sp>
      <p:pic>
        <p:nvPicPr>
          <p:cNvPr id="36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021" y="1546766"/>
            <a:ext cx="3147379" cy="47063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hank you!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7000"/>
            </a:lvl1pPr>
          </a:lstStyle>
          <a:p>
            <a:r>
              <a:rPr sz="3733"/>
              <a:t>Thank you!</a:t>
            </a:r>
          </a:p>
        </p:txBody>
      </p:sp>
      <p:sp>
        <p:nvSpPr>
          <p:cNvPr id="367" name="Carol Finney"/>
          <p:cNvSpPr txBox="1"/>
          <p:nvPr/>
        </p:nvSpPr>
        <p:spPr>
          <a:xfrm>
            <a:off x="2156317" y="5036768"/>
            <a:ext cx="109324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Carol Finney</a:t>
            </a:r>
          </a:p>
        </p:txBody>
      </p:sp>
      <p:sp>
        <p:nvSpPr>
          <p:cNvPr id="368" name="Sarah Olia"/>
          <p:cNvSpPr txBox="1"/>
          <p:nvPr/>
        </p:nvSpPr>
        <p:spPr>
          <a:xfrm>
            <a:off x="5300427" y="5036768"/>
            <a:ext cx="90249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Sarah Olia</a:t>
            </a:r>
          </a:p>
        </p:txBody>
      </p:sp>
      <p:sp>
        <p:nvSpPr>
          <p:cNvPr id="369" name="Erin Meade"/>
          <p:cNvSpPr txBox="1"/>
          <p:nvPr/>
        </p:nvSpPr>
        <p:spPr>
          <a:xfrm>
            <a:off x="8028184" y="5036768"/>
            <a:ext cx="1001877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Erin Meade</a:t>
            </a:r>
          </a:p>
        </p:txBody>
      </p:sp>
      <p:pic>
        <p:nvPicPr>
          <p:cNvPr id="37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273" y="2785280"/>
            <a:ext cx="2198114" cy="198462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1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069" y="2785280"/>
            <a:ext cx="2366966" cy="198462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2" name="images.jpeg" descr="images.jpeg"/>
          <p:cNvPicPr>
            <a:picLocks noChangeAspect="1"/>
          </p:cNvPicPr>
          <p:nvPr/>
        </p:nvPicPr>
        <p:blipFill>
          <a:blip r:embed="rId5"/>
          <a:srcRect r="12659"/>
          <a:stretch>
            <a:fillRect/>
          </a:stretch>
        </p:blipFill>
        <p:spPr>
          <a:xfrm>
            <a:off x="8020718" y="2704681"/>
            <a:ext cx="1874294" cy="21459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F2817-F214-491F-32F4-D4E88132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Actionable items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E32858-9472-F13F-CB10-462AB87F0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953" y="1992264"/>
            <a:ext cx="9744079" cy="2661797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F2817-F214-491F-32F4-D4E88132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Reflections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F146B-5B1A-9F1C-C3AC-48D245199B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1" y="1798638"/>
            <a:ext cx="6129020" cy="4167187"/>
          </a:xfrm>
        </p:spPr>
        <p:txBody>
          <a:bodyPr/>
          <a:lstStyle/>
          <a:p>
            <a:r>
              <a:rPr lang="en-GB"/>
              <a:t xml:space="preserve">Write 1-2 things you want to remember from today’s class using Slack’s #reflection channel.. </a:t>
            </a:r>
            <a:endParaRPr lang="en-US"/>
          </a:p>
        </p:txBody>
      </p:sp>
      <p:pic>
        <p:nvPicPr>
          <p:cNvPr id="3" name="The_Thinker,_Rodin.jpg" descr="The_Thinker,_Rodin.jpg">
            <a:extLst>
              <a:ext uri="{FF2B5EF4-FFF2-40B4-BE49-F238E27FC236}">
                <a16:creationId xmlns:a16="http://schemas.microsoft.com/office/drawing/2014/main" id="{F7571BA8-8B0B-B44A-A6CD-51230D231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134" y="639384"/>
            <a:ext cx="4107708" cy="5476943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4D04C1C6-1927-442D-B976-1CCB8C031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345" y="4208176"/>
            <a:ext cx="2669977" cy="15001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795550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36" y="636173"/>
            <a:ext cx="7571011" cy="5061170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Masa Ide"/>
          <p:cNvSpPr txBox="1"/>
          <p:nvPr/>
        </p:nvSpPr>
        <p:spPr>
          <a:xfrm>
            <a:off x="9094039" y="2988548"/>
            <a:ext cx="1200650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800"/>
            </a:lvl1pPr>
          </a:lstStyle>
          <a:p>
            <a:r>
              <a:rPr sz="1969"/>
              <a:t>Masa Ide</a:t>
            </a:r>
          </a:p>
        </p:txBody>
      </p:sp>
      <p:sp>
        <p:nvSpPr>
          <p:cNvPr id="382" name="Johnson Liu"/>
          <p:cNvSpPr txBox="1"/>
          <p:nvPr/>
        </p:nvSpPr>
        <p:spPr>
          <a:xfrm>
            <a:off x="8920517" y="5269338"/>
            <a:ext cx="1606210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800"/>
            </a:lvl1pPr>
          </a:lstStyle>
          <a:p>
            <a:r>
              <a:rPr sz="1969"/>
              <a:t>Johnson Liu</a:t>
            </a:r>
          </a:p>
        </p:txBody>
      </p:sp>
      <p:pic>
        <p:nvPicPr>
          <p:cNvPr id="383" name="2c2a4fb8-3536-4950-bcf3-e9085a172a10.jpg.128x128_q85_crop-smart.jpg" descr="2c2a4fb8-3536-4950-bcf3-e9085a172a10.jpg.128x128_q85_crop-sma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6394" y="1213494"/>
            <a:ext cx="1775053" cy="1775053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person in glasses smiling in front of a green plant  Description automatically generated">
            <a:extLst>
              <a:ext uri="{FF2B5EF4-FFF2-40B4-BE49-F238E27FC236}">
                <a16:creationId xmlns:a16="http://schemas.microsoft.com/office/drawing/2014/main" id="{CCB23C9B-FBAE-54C2-BA16-FCE057CAC1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3553" y="3781044"/>
            <a:ext cx="1521622" cy="14882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" grpId="0" animBg="1" advAuto="0"/>
      <p:bldP spid="382" grpId="0" animBg="1" advAuto="0"/>
      <p:bldP spid="383" grpId="0" animBg="1" advAuto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0507-B7E2-D2C8-4242-6E1F0B82DA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API-209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16BF8-CEF4-9938-4D48-779FD113B2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Class #1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6D0E1-9092-FCEB-5B75-5328A83FC6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 xml:space="preserve">Prof. Dan Levy | Harvard Kennedy School | Harvard University </a:t>
            </a:r>
          </a:p>
        </p:txBody>
      </p:sp>
    </p:spTree>
    <p:extLst>
      <p:ext uri="{BB962C8B-B14F-4D97-AF65-F5344CB8AC3E}">
        <p14:creationId xmlns:p14="http://schemas.microsoft.com/office/powerpoint/2010/main" val="4957847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69752-0DEE-8B39-E32B-E2C4CCBE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Back-up slides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5414E-5081-7F28-4B1B-4B339BBDF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Prof. Dan Levy | Advanced Quantitative Methods (API-209) | Harvard Kennedy School</a:t>
            </a:r>
          </a:p>
        </p:txBody>
      </p:sp>
    </p:spTree>
    <p:extLst>
      <p:ext uri="{BB962C8B-B14F-4D97-AF65-F5344CB8AC3E}">
        <p14:creationId xmlns:p14="http://schemas.microsoft.com/office/powerpoint/2010/main" val="27888423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603F5-E8B1-9ECC-8DB0-42FFF7184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21"/>
            <a:ext cx="6456196" cy="6651957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2100FB2-B69B-0FEF-5988-4B410AAD8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199557"/>
              </p:ext>
            </p:extLst>
          </p:nvPr>
        </p:nvGraphicFramePr>
        <p:xfrm>
          <a:off x="7331407" y="1574799"/>
          <a:ext cx="4503543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9187">
                  <a:extLst>
                    <a:ext uri="{9D8B030D-6E8A-4147-A177-3AD203B41FA5}">
                      <a16:colId xmlns:a16="http://schemas.microsoft.com/office/drawing/2014/main" val="2688587219"/>
                    </a:ext>
                  </a:extLst>
                </a:gridCol>
                <a:gridCol w="2190206">
                  <a:extLst>
                    <a:ext uri="{9D8B030D-6E8A-4147-A177-3AD203B41FA5}">
                      <a16:colId xmlns:a16="http://schemas.microsoft.com/office/drawing/2014/main" val="2374472767"/>
                    </a:ext>
                  </a:extLst>
                </a:gridCol>
                <a:gridCol w="1624150">
                  <a:extLst>
                    <a:ext uri="{9D8B030D-6E8A-4147-A177-3AD203B41FA5}">
                      <a16:colId xmlns:a16="http://schemas.microsoft.com/office/drawing/2014/main" val="37961859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22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Sara Wang Becerra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Descriptive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859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Ishaan Bansal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Causal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5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Alexa González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Predictive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66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Nidhi 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Shock Trump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938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25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34639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DCF90FB-9533-D4D6-791F-00BBE4FACA4F}"/>
              </a:ext>
            </a:extLst>
          </p:cNvPr>
          <p:cNvSpPr/>
          <p:nvPr/>
        </p:nvSpPr>
        <p:spPr>
          <a:xfrm>
            <a:off x="7331407" y="561703"/>
            <a:ext cx="4503543" cy="7576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83BD5B"/>
                </a:solidFill>
              </a:rPr>
              <a:t>Calling List</a:t>
            </a:r>
          </a:p>
        </p:txBody>
      </p:sp>
    </p:spTree>
    <p:extLst>
      <p:ext uri="{BB962C8B-B14F-4D97-AF65-F5344CB8AC3E}">
        <p14:creationId xmlns:p14="http://schemas.microsoft.com/office/powerpoint/2010/main" val="1711055806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it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473201">
              <a:defRPr sz="5184">
                <a:effectLst>
                  <a:outerShdw blurRad="41148" dist="20574" dir="5400000" rotWithShape="0">
                    <a:srgbClr val="000000"/>
                  </a:outerShdw>
                </a:effectLst>
              </a:defRPr>
            </a:lvl1pPr>
          </a:lstStyle>
          <a:p>
            <a:r>
              <a:t>How 538 displayed forecasts in 2020</a:t>
            </a:r>
          </a:p>
        </p:txBody>
      </p:sp>
      <p:pic>
        <p:nvPicPr>
          <p:cNvPr id="323" name="Image" descr="Image"/>
          <p:cNvPicPr>
            <a:picLocks noChangeAspect="1"/>
          </p:cNvPicPr>
          <p:nvPr/>
        </p:nvPicPr>
        <p:blipFill>
          <a:blip r:embed="rId3"/>
          <a:srcRect l="22235" t="2371" r="927" b="4568"/>
          <a:stretch>
            <a:fillRect/>
          </a:stretch>
        </p:blipFill>
        <p:spPr>
          <a:xfrm>
            <a:off x="3473386" y="1751153"/>
            <a:ext cx="5245227" cy="4173526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Source: Fivethirtyeight. Accessed on Aug 31, 2020"/>
          <p:cNvSpPr txBox="1"/>
          <p:nvPr/>
        </p:nvSpPr>
        <p:spPr>
          <a:xfrm>
            <a:off x="3473386" y="5962303"/>
            <a:ext cx="5819775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2400"/>
            </a:lvl1pPr>
          </a:lstStyle>
          <a:p>
            <a:r>
              <a:rPr sz="1687" dirty="0"/>
              <a:t>Source: Fivethirtyeight. Accessed on Aug 31, 2020</a:t>
            </a:r>
          </a:p>
        </p:txBody>
      </p:sp>
    </p:spTree>
    <p:extLst>
      <p:ext uri="{BB962C8B-B14F-4D97-AF65-F5344CB8AC3E}">
        <p14:creationId xmlns:p14="http://schemas.microsoft.com/office/powerpoint/2010/main" val="11300159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itle 2"/>
          <p:cNvSpPr txBox="1">
            <a:spLocks noGrp="1"/>
          </p:cNvSpPr>
          <p:nvPr>
            <p:ph type="title"/>
          </p:nvPr>
        </p:nvSpPr>
        <p:spPr>
          <a:xfrm>
            <a:off x="604520" y="728973"/>
            <a:ext cx="10982960" cy="728000"/>
          </a:xfrm>
          <a:prstGeom prst="rect">
            <a:avLst/>
          </a:prstGeom>
        </p:spPr>
        <p:txBody>
          <a:bodyPr>
            <a:noAutofit/>
          </a:bodyPr>
          <a:lstStyle>
            <a:lvl1pPr defTabSz="490727">
              <a:defRPr sz="5376">
                <a:effectLst>
                  <a:outerShdw blurRad="42672" dist="21336" dir="5400000" rotWithShape="0">
                    <a:srgbClr val="000000"/>
                  </a:outerShdw>
                </a:effectLst>
              </a:defRPr>
            </a:lvl1pPr>
          </a:lstStyle>
          <a:p>
            <a:r>
              <a:rPr sz="4700"/>
              <a:t>How 538 displays forecasts in 2020</a:t>
            </a:r>
          </a:p>
        </p:txBody>
      </p:sp>
      <p:pic>
        <p:nvPicPr>
          <p:cNvPr id="32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084" y="1602430"/>
            <a:ext cx="6826431" cy="4484766"/>
          </a:xfrm>
          <a:prstGeom prst="rect">
            <a:avLst/>
          </a:prstGeom>
          <a:ln w="12700">
            <a:miter lim="400000"/>
          </a:ln>
        </p:spPr>
      </p:pic>
      <p:sp>
        <p:nvSpPr>
          <p:cNvPr id="328" name="Source: Fivethirtyeight. Accessed on Aug 31, 2020"/>
          <p:cNvSpPr txBox="1"/>
          <p:nvPr/>
        </p:nvSpPr>
        <p:spPr>
          <a:xfrm>
            <a:off x="3186111" y="6078227"/>
            <a:ext cx="5819775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2400"/>
            </a:lvl1pPr>
          </a:lstStyle>
          <a:p>
            <a:r>
              <a:rPr sz="1687" dirty="0"/>
              <a:t>Source: Fivethirtyeight. Accessed on Aug 31, 2020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7">
      <a:dk1>
        <a:srgbClr val="143F6A"/>
      </a:dk1>
      <a:lt1>
        <a:sysClr val="window" lastClr="FFFFFF"/>
      </a:lt1>
      <a:dk2>
        <a:srgbClr val="83BD5B"/>
      </a:dk2>
      <a:lt2>
        <a:srgbClr val="FFFFFF"/>
      </a:lt2>
      <a:accent1>
        <a:srgbClr val="FFFFFF"/>
      </a:accent1>
      <a:accent2>
        <a:srgbClr val="FFFFFF"/>
      </a:accent2>
      <a:accent3>
        <a:srgbClr val="5AA2AE"/>
      </a:accent3>
      <a:accent4>
        <a:srgbClr val="ACCBF9"/>
      </a:accent4>
      <a:accent5>
        <a:srgbClr val="5AA2AE"/>
      </a:accent5>
      <a:accent6>
        <a:srgbClr val="FFFFFF"/>
      </a:accent6>
      <a:hlink>
        <a:srgbClr val="9454C3"/>
      </a:hlink>
      <a:folHlink>
        <a:srgbClr val="3EBBF0"/>
      </a:folHlink>
    </a:clrScheme>
    <a:fontScheme name="Custom 1">
      <a:majorFont>
        <a:latin typeface="Nirmala UI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I-209 (green)" id="{D6761DF8-4D71-464A-9F39-F826741B18E4}" vid="{5B99FFB8-C0E0-4A6E-BC6F-A89F38B4F9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- Class 1 Slides - API-219 (2023) - fv - new template</Template>
  <TotalTime>371</TotalTime>
  <Words>1871</Words>
  <Application>Microsoft Macintosh PowerPoint</Application>
  <PresentationFormat>Widescreen</PresentationFormat>
  <Paragraphs>228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Arial</vt:lpstr>
      <vt:lpstr>Calibri</vt:lpstr>
      <vt:lpstr>Courier New</vt:lpstr>
      <vt:lpstr>Helvetica</vt:lpstr>
      <vt:lpstr>Helvetica Light</vt:lpstr>
      <vt:lpstr>Montserrat</vt:lpstr>
      <vt:lpstr>Nirmala UI</vt:lpstr>
      <vt:lpstr>Playfair Display</vt:lpstr>
      <vt:lpstr>Segoe UI</vt:lpstr>
      <vt:lpstr>Office Theme</vt:lpstr>
      <vt:lpstr>API-209</vt:lpstr>
      <vt:lpstr>PowerPoint Presentation</vt:lpstr>
      <vt:lpstr>Welcome to API-209</vt:lpstr>
      <vt:lpstr>Welcome to API-209</vt:lpstr>
      <vt:lpstr>PowerPoint Presentation</vt:lpstr>
      <vt:lpstr>1 – Syllabus Overview</vt:lpstr>
      <vt:lpstr>Pedagogic Approach</vt:lpstr>
      <vt:lpstr>Our Teaching Team</vt:lpstr>
      <vt:lpstr>Expectations</vt:lpstr>
      <vt:lpstr>Expectations</vt:lpstr>
      <vt:lpstr>Feedback</vt:lpstr>
      <vt:lpstr>2 – The Big Picture</vt:lpstr>
      <vt:lpstr>1 - Descriptive Use: Poverty in Peru</vt:lpstr>
      <vt:lpstr>1 - Descriptive Use: Poverty in Peru</vt:lpstr>
      <vt:lpstr>1 - Descriptive Use: Poverty in Peru</vt:lpstr>
      <vt:lpstr>2 – Causal Use: Effect of income shocks in India</vt:lpstr>
      <vt:lpstr>2 – Causal Use</vt:lpstr>
      <vt:lpstr>2 – Causal Use</vt:lpstr>
      <vt:lpstr>3 – Predictive Use: Banking indicators in Mexico</vt:lpstr>
      <vt:lpstr>3 – Predictive Use: Banking indicators in Mexico</vt:lpstr>
      <vt:lpstr>3 – Probability</vt:lpstr>
      <vt:lpstr>Think about the 2016 U.S. Presidential Elections</vt:lpstr>
      <vt:lpstr>PowerPoint Presentation</vt:lpstr>
      <vt:lpstr>PowerPoint Presentation</vt:lpstr>
      <vt:lpstr>Why were we surprised?</vt:lpstr>
      <vt:lpstr>Shock  "In 2016, I had a fervent belief that there would be no way that Donald Trump would get elected as President of USA. Looking back, I think I was definitely surrounded by an echo-chamber of like-minded friends with similar political views, so the night when I watched the election results, I remember being absolutely shocked that Hillary Clinton did not get elected."</vt:lpstr>
      <vt:lpstr>Thinking probabilistically about the world</vt:lpstr>
      <vt:lpstr>Principle #1 The world is much more uncertain than you think</vt:lpstr>
      <vt:lpstr>Keys to Silver’s Prediction</vt:lpstr>
      <vt:lpstr>How 538 displays forecasts</vt:lpstr>
      <vt:lpstr>PowerPoint Presentation</vt:lpstr>
      <vt:lpstr>PowerPoint Presentation</vt:lpstr>
      <vt:lpstr>PowerPoint Presentation</vt:lpstr>
      <vt:lpstr>API-209</vt:lpstr>
      <vt:lpstr>Answer based on probability theory</vt:lpstr>
      <vt:lpstr>Got it right!</vt:lpstr>
      <vt:lpstr>Got it right!</vt:lpstr>
      <vt:lpstr>Did you know about this puzzle?</vt:lpstr>
      <vt:lpstr>Answer based on probability theory</vt:lpstr>
      <vt:lpstr>The probability p that at least two people in a group of k people will have the same birthday</vt:lpstr>
      <vt:lpstr>Common birthdays in this class</vt:lpstr>
      <vt:lpstr>Thank you!</vt:lpstr>
      <vt:lpstr>Actionable items</vt:lpstr>
      <vt:lpstr>Reflections</vt:lpstr>
      <vt:lpstr>PowerPoint Presentation</vt:lpstr>
      <vt:lpstr>API-209</vt:lpstr>
      <vt:lpstr>Back-up slides</vt:lpstr>
      <vt:lpstr>PowerPoint Presentation</vt:lpstr>
      <vt:lpstr>How 538 displayed forecasts in 2020</vt:lpstr>
      <vt:lpstr>How 538 displays forecasts in 2020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API-209</dc:title>
  <dc:creator>Albertos, Teresa</dc:creator>
  <cp:lastModifiedBy>Levy, Dan</cp:lastModifiedBy>
  <cp:revision>11</cp:revision>
  <dcterms:created xsi:type="dcterms:W3CDTF">2023-08-28T19:54:56Z</dcterms:created>
  <dcterms:modified xsi:type="dcterms:W3CDTF">2023-08-29T15:22:29Z</dcterms:modified>
</cp:coreProperties>
</file>